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2" r:id="rId11"/>
    <p:sldId id="273" r:id="rId12"/>
    <p:sldId id="265" r:id="rId13"/>
    <p:sldId id="274" r:id="rId14"/>
    <p:sldId id="275" r:id="rId15"/>
    <p:sldId id="276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8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685800"/>
            <a:ext cx="1069848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85800"/>
            <a:ext cx="201168" cy="5120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96926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Microsoft YaHei"/>
              </a:rPr>
              <a:t>景区导览 AI 数字人系统
整体分析与技术汇报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377440"/>
            <a:ext cx="9829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" y="2377440"/>
            <a:ext cx="128016" cy="2148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8136" y="2487168"/>
            <a:ext cx="95189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Microsoft YaHei"/>
              </a:rPr>
              <a:t>汇报定位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" y="2852928"/>
            <a:ext cx="9518904" cy="1581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475569"/>
                </a:solidFill>
                <a:latin typeface="Microsoft YaHei"/>
              </a:rPr>
              <a:t>• 项目对象：游客前台 + 管理后台 + FastAPI 后端 + RAG 知识库 + ASR/TTS + 数字人视频能力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475569"/>
                </a:solidFill>
                <a:latin typeface="Microsoft YaHei"/>
              </a:rPr>
              <a:t>• 汇报重点：模块划分、关键调用链、核心实现细节、部署方式、当前能力边界与优化方向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475569"/>
                </a:solidFill>
                <a:latin typeface="Microsoft YaHei"/>
              </a:rPr>
              <a:t>• 分析结论：系统已具备从资料入库到游客问答再到运营分析的完整闭环能力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754880"/>
            <a:ext cx="8961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Microsoft YaHei"/>
              </a:rPr>
              <a:t>代码仓库结构：web-client / admin-web / backend / docker-compose / 资料包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3550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75569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Microsoft YaHei"/>
              </a:rPr>
              <a:t>1. 系统总体概览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475569"/>
                </a:solidFill>
                <a:latin typeface="Microsoft YaHei"/>
              </a:rPr>
              <a:t>该项目是一个面向景区导览场景的 AI 数字人单体系统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87552"/>
            <a:ext cx="10972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48920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28016" cy="2011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2376" y="1435608"/>
            <a:ext cx="12105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 err="1">
                <a:solidFill>
                  <a:srgbClr val="0F172A"/>
                </a:solidFill>
                <a:latin typeface="Microsoft YaHei"/>
              </a:rPr>
              <a:t>核心定位</a:t>
            </a:r>
            <a:endParaRPr sz="2000" b="1" dirty="0">
              <a:solidFill>
                <a:srgbClr val="0F172A"/>
              </a:solidFill>
              <a:latin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22376" y="1801368"/>
            <a:ext cx="4581144" cy="64633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dirty="0">
                <a:solidFill>
                  <a:srgbClr val="475569"/>
                </a:solidFill>
                <a:latin typeface="Microsoft YaHei"/>
              </a:rPr>
              <a:t>•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将官方景区资料构造成知识库，为游客提供文本</a:t>
            </a:r>
            <a:r>
              <a:rPr dirty="0">
                <a:solidFill>
                  <a:srgbClr val="475569"/>
                </a:solidFill>
                <a:latin typeface="Microsoft YaHei"/>
              </a:rPr>
              <a:t>/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语音问答、数字人讲解和路线推荐</a:t>
            </a:r>
            <a:endParaRPr dirty="0">
              <a:solidFill>
                <a:srgbClr val="475569"/>
              </a:solidFill>
              <a:latin typeface="Microsoft YaHe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897880" y="1325880"/>
            <a:ext cx="48920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97880" y="1325880"/>
            <a:ext cx="128016" cy="2011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17336" y="1435608"/>
            <a:ext cx="12105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 err="1">
                <a:solidFill>
                  <a:srgbClr val="0F172A"/>
                </a:solidFill>
                <a:latin typeface="Microsoft YaHei"/>
              </a:rPr>
              <a:t>前台能力</a:t>
            </a:r>
            <a:endParaRPr sz="2000" b="1" dirty="0">
              <a:solidFill>
                <a:srgbClr val="0F172A"/>
              </a:solidFill>
              <a:latin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17336" y="1801368"/>
            <a:ext cx="4581144" cy="97462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dirty="0">
                <a:solidFill>
                  <a:srgbClr val="475569"/>
                </a:solidFill>
                <a:latin typeface="Microsoft YaHei"/>
              </a:rPr>
              <a:t>• Vue3 +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Pinia</a:t>
            </a:r>
            <a:r>
              <a:rPr dirty="0">
                <a:solidFill>
                  <a:srgbClr val="475569"/>
                </a:solidFill>
                <a:latin typeface="Microsoft YaHei"/>
              </a:rPr>
              <a:t>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单页应用</a:t>
            </a:r>
            <a:endParaRPr dirty="0">
              <a:solidFill>
                <a:srgbClr val="475569"/>
              </a:solidFill>
              <a:latin typeface="Microsoft YaHei"/>
            </a:endParaRPr>
          </a:p>
          <a:p>
            <a:pPr>
              <a:spcAft>
                <a:spcPts val="400"/>
              </a:spcAft>
            </a:pPr>
            <a:r>
              <a:rPr dirty="0">
                <a:solidFill>
                  <a:srgbClr val="475569"/>
                </a:solidFill>
                <a:latin typeface="Microsoft YaHei"/>
              </a:rPr>
              <a:t>•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支持文本输入、按住说话、数字人讲解、路线推荐弹窗</a:t>
            </a:r>
            <a:endParaRPr dirty="0">
              <a:solidFill>
                <a:srgbClr val="475569"/>
              </a:solidFill>
              <a:latin typeface="Microsoft YaHe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2920" y="3703320"/>
            <a:ext cx="48920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3703320"/>
            <a:ext cx="128016" cy="2011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2376" y="3813048"/>
            <a:ext cx="12105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 err="1">
                <a:solidFill>
                  <a:srgbClr val="0F172A"/>
                </a:solidFill>
                <a:latin typeface="Microsoft YaHei"/>
              </a:rPr>
              <a:t>后台能力</a:t>
            </a:r>
            <a:endParaRPr sz="2000" b="1" dirty="0">
              <a:solidFill>
                <a:srgbClr val="0F172A"/>
              </a:solidFill>
              <a:latin typeface="Microsoft YaHe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22376" y="4178808"/>
            <a:ext cx="4581144" cy="69762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dirty="0">
                <a:solidFill>
                  <a:srgbClr val="475569"/>
                </a:solidFill>
                <a:latin typeface="Microsoft YaHei"/>
              </a:rPr>
              <a:t>• React + Ant Design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管理控制台</a:t>
            </a:r>
            <a:endParaRPr dirty="0">
              <a:solidFill>
                <a:srgbClr val="475569"/>
              </a:solidFill>
              <a:latin typeface="Microsoft YaHei"/>
            </a:endParaRPr>
          </a:p>
          <a:p>
            <a:pPr>
              <a:spcAft>
                <a:spcPts val="400"/>
              </a:spcAft>
            </a:pPr>
            <a:r>
              <a:rPr dirty="0">
                <a:solidFill>
                  <a:srgbClr val="475569"/>
                </a:solidFill>
                <a:latin typeface="Microsoft YaHei"/>
              </a:rPr>
              <a:t>•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提供数据大屏、知识库上传、感受度分析</a:t>
            </a:r>
            <a:endParaRPr dirty="0">
              <a:solidFill>
                <a:srgbClr val="475569"/>
              </a:solidFill>
              <a:latin typeface="Microsoft YaHe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897880" y="3703320"/>
            <a:ext cx="48920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97880" y="3703320"/>
            <a:ext cx="128016" cy="2011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17336" y="3813048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 err="1">
                <a:solidFill>
                  <a:srgbClr val="0F172A"/>
                </a:solidFill>
                <a:latin typeface="Microsoft YaHei"/>
              </a:rPr>
              <a:t>后端能力</a:t>
            </a:r>
            <a:endParaRPr b="1" dirty="0">
              <a:solidFill>
                <a:srgbClr val="0F172A"/>
              </a:solidFill>
              <a:latin typeface="Microsoft YaHe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17336" y="4178808"/>
            <a:ext cx="4581144" cy="97462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dirty="0">
                <a:solidFill>
                  <a:srgbClr val="475569"/>
                </a:solidFill>
                <a:latin typeface="Microsoft YaHei"/>
              </a:rPr>
              <a:t>•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FastAPI</a:t>
            </a:r>
            <a:r>
              <a:rPr dirty="0">
                <a:solidFill>
                  <a:srgbClr val="475569"/>
                </a:solidFill>
                <a:latin typeface="Microsoft YaHei"/>
              </a:rPr>
              <a:t>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单体服务</a:t>
            </a:r>
            <a:endParaRPr dirty="0">
              <a:solidFill>
                <a:srgbClr val="475569"/>
              </a:solidFill>
              <a:latin typeface="Microsoft YaHei"/>
            </a:endParaRPr>
          </a:p>
          <a:p>
            <a:pPr>
              <a:spcAft>
                <a:spcPts val="400"/>
              </a:spcAft>
            </a:pPr>
            <a:r>
              <a:rPr dirty="0">
                <a:solidFill>
                  <a:srgbClr val="475569"/>
                </a:solidFill>
                <a:latin typeface="Microsoft YaHei"/>
              </a:rPr>
              <a:t>•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负责</a:t>
            </a:r>
            <a:r>
              <a:rPr dirty="0">
                <a:solidFill>
                  <a:srgbClr val="475569"/>
                </a:solidFill>
                <a:latin typeface="Microsoft YaHei"/>
              </a:rPr>
              <a:t>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RAG、LLM、ASR、TTS、日志分析、数字人视频代理</a:t>
            </a:r>
            <a:endParaRPr dirty="0">
              <a:solidFill>
                <a:srgbClr val="475569"/>
              </a:solidFill>
              <a:latin typeface="Microsoft YaHe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378440" y="63550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75569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Microsoft YaHei"/>
              </a:rPr>
              <a:t>2. 分层架构与组件关系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475569"/>
                </a:solidFill>
                <a:latin typeface="Microsoft YaHei"/>
              </a:rPr>
              <a:t>从浏览器接入到 AI 能力层和数据层形成清晰的单体分层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87552"/>
            <a:ext cx="10972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2011680" cy="6400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游客端
Vue3 / Pinia / Vite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240280"/>
            <a:ext cx="2011680" cy="640080"/>
          </a:xfrm>
          <a:prstGeom prst="round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管理后台
React / AntD / ECharts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1783080"/>
            <a:ext cx="1828800" cy="73152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Nginx
静态资源 + /api 反代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1783080"/>
            <a:ext cx="2286000" cy="73152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FastAPI Backend
API / 编排 / 鉴权 / 静态音频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097280"/>
            <a:ext cx="2560320" cy="64008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RAG 与知识处理
Chroma + bge-m3 + 文档解析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965960"/>
            <a:ext cx="2560320" cy="64008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语音与数字人
faster-whisper + Edge-TTS + 讯飞视频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2834640"/>
            <a:ext cx="2560320" cy="6400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会话与分析
SQLite / Redis / 日志统计</a:t>
            </a:r>
          </a:p>
        </p:txBody>
      </p:sp>
      <p:sp>
        <p:nvSpPr>
          <p:cNvPr id="12" name="Chevron 11"/>
          <p:cNvSpPr/>
          <p:nvPr/>
        </p:nvSpPr>
        <p:spPr>
          <a:xfrm>
            <a:off x="2651760" y="1527048"/>
            <a:ext cx="256032" cy="228600"/>
          </a:xfrm>
          <a:prstGeom prst="chevron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hevron 12"/>
          <p:cNvSpPr/>
          <p:nvPr/>
        </p:nvSpPr>
        <p:spPr>
          <a:xfrm>
            <a:off x="2651760" y="2441448"/>
            <a:ext cx="256032" cy="228600"/>
          </a:xfrm>
          <a:prstGeom prst="chevron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hevron 13"/>
          <p:cNvSpPr/>
          <p:nvPr/>
        </p:nvSpPr>
        <p:spPr>
          <a:xfrm>
            <a:off x="4892040" y="1984248"/>
            <a:ext cx="256032" cy="228600"/>
          </a:xfrm>
          <a:prstGeom prst="chevron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hevron 14"/>
          <p:cNvSpPr/>
          <p:nvPr/>
        </p:nvSpPr>
        <p:spPr>
          <a:xfrm>
            <a:off x="7635240" y="1298448"/>
            <a:ext cx="256032" cy="228600"/>
          </a:xfrm>
          <a:prstGeom prst="chevron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hevron 15"/>
          <p:cNvSpPr/>
          <p:nvPr/>
        </p:nvSpPr>
        <p:spPr>
          <a:xfrm>
            <a:off x="7635240" y="2167128"/>
            <a:ext cx="256032" cy="228600"/>
          </a:xfrm>
          <a:prstGeom prst="chevron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hevron 16"/>
          <p:cNvSpPr/>
          <p:nvPr/>
        </p:nvSpPr>
        <p:spPr>
          <a:xfrm>
            <a:off x="7635240" y="3035808"/>
            <a:ext cx="256032" cy="228600"/>
          </a:xfrm>
          <a:prstGeom prst="chevron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94360" y="3977639"/>
            <a:ext cx="100584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3977639"/>
            <a:ext cx="128016" cy="1737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3816" y="4087367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 err="1">
                <a:solidFill>
                  <a:srgbClr val="0F172A"/>
                </a:solidFill>
                <a:latin typeface="Microsoft YaHei"/>
              </a:rPr>
              <a:t>架构判断</a:t>
            </a:r>
            <a:endParaRPr b="1" dirty="0">
              <a:solidFill>
                <a:srgbClr val="0F172A"/>
              </a:solidFill>
              <a:latin typeface="Microsoft YaHe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3816" y="4453127"/>
            <a:ext cx="9747504" cy="130292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dirty="0">
                <a:solidFill>
                  <a:srgbClr val="475569"/>
                </a:solidFill>
                <a:latin typeface="Microsoft YaHei"/>
              </a:rPr>
              <a:t>•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这是典型的</a:t>
            </a:r>
            <a:r>
              <a:rPr dirty="0">
                <a:solidFill>
                  <a:srgbClr val="475569"/>
                </a:solidFill>
                <a:latin typeface="Microsoft YaHei"/>
              </a:rPr>
              <a:t> AI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业务单体架构，而不是微服务；优点是开发集成快，适合竞赛和演示场景</a:t>
            </a:r>
            <a:r>
              <a:rPr dirty="0">
                <a:solidFill>
                  <a:srgbClr val="475569"/>
                </a:solidFill>
                <a:latin typeface="Microsoft YaHei"/>
              </a:rPr>
              <a:t>。</a:t>
            </a:r>
          </a:p>
          <a:p>
            <a:pPr>
              <a:spcAft>
                <a:spcPts val="400"/>
              </a:spcAft>
            </a:pPr>
            <a:r>
              <a:rPr dirty="0">
                <a:solidFill>
                  <a:srgbClr val="475569"/>
                </a:solidFill>
                <a:latin typeface="Microsoft YaHei"/>
              </a:rPr>
              <a:t>• Nginx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将两个前端和后端</a:t>
            </a:r>
            <a:r>
              <a:rPr dirty="0">
                <a:solidFill>
                  <a:srgbClr val="475569"/>
                </a:solidFill>
                <a:latin typeface="Microsoft YaHei"/>
              </a:rPr>
              <a:t> API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聚合到同一入口，降低跨域与部署复杂度</a:t>
            </a:r>
            <a:r>
              <a:rPr dirty="0">
                <a:solidFill>
                  <a:srgbClr val="475569"/>
                </a:solidFill>
                <a:latin typeface="Microsoft YaHei"/>
              </a:rPr>
              <a:t>。</a:t>
            </a:r>
          </a:p>
          <a:p>
            <a:pPr>
              <a:spcAft>
                <a:spcPts val="400"/>
              </a:spcAft>
            </a:pPr>
            <a:r>
              <a:rPr dirty="0">
                <a:solidFill>
                  <a:srgbClr val="475569"/>
                </a:solidFill>
                <a:latin typeface="Microsoft YaHei"/>
              </a:rPr>
              <a:t>•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核心价值不在</a:t>
            </a:r>
            <a:r>
              <a:rPr dirty="0">
                <a:solidFill>
                  <a:srgbClr val="475569"/>
                </a:solidFill>
                <a:latin typeface="Microsoft YaHei"/>
              </a:rPr>
              <a:t>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CRUD，而在“知识库检索</a:t>
            </a:r>
            <a:r>
              <a:rPr dirty="0">
                <a:solidFill>
                  <a:srgbClr val="475569"/>
                </a:solidFill>
                <a:latin typeface="Microsoft YaHei"/>
              </a:rPr>
              <a:t> +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语音链路</a:t>
            </a:r>
            <a:r>
              <a:rPr dirty="0">
                <a:solidFill>
                  <a:srgbClr val="475569"/>
                </a:solidFill>
                <a:latin typeface="Microsoft YaHei"/>
              </a:rPr>
              <a:t> +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数字人呈现</a:t>
            </a:r>
            <a:r>
              <a:rPr dirty="0">
                <a:solidFill>
                  <a:srgbClr val="475569"/>
                </a:solidFill>
                <a:latin typeface="Microsoft YaHei"/>
              </a:rPr>
              <a:t> +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运营闭环”的组合能力</a:t>
            </a:r>
            <a:r>
              <a:rPr dirty="0">
                <a:solidFill>
                  <a:srgbClr val="475569"/>
                </a:solidFill>
                <a:latin typeface="Microsoft YaHei"/>
              </a:rPr>
              <a:t>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78440" y="63550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75569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Microsoft YaHei"/>
              </a:rPr>
              <a:t>3. 部署拓扑与运行环境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475569"/>
                </a:solidFill>
                <a:latin typeface="Microsoft YaHei"/>
              </a:rPr>
              <a:t>Docker Compose 提供 Redis、Backend、Nginx 的一键编排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87552"/>
            <a:ext cx="10972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325880"/>
          <a:ext cx="9509760" cy="187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服务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职责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端口/形态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关键依赖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Microsoft YaHei"/>
                        </a:rPr>
                        <a:t>nginx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75569"/>
                          </a:solidFill>
                          <a:latin typeface="Microsoft YaHei"/>
                        </a:rPr>
                        <a:t>承载游客端与管理后台静态资源，并反向代理 /api 与 /static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75569"/>
                          </a:solidFill>
                          <a:latin typeface="Microsoft YaHei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75569"/>
                          </a:solidFill>
                          <a:latin typeface="Microsoft YaHei"/>
                        </a:rPr>
                        <a:t>docker/nginx/Dockerfile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Microsoft YaHei"/>
                        </a:rPr>
                        <a:t>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75569"/>
                          </a:solidFill>
                          <a:latin typeface="Microsoft YaHei"/>
                        </a:rPr>
                        <a:t>FastAPI + uvicorn，承载聊天、ASR、TTS、RAG、管理接口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75569"/>
                          </a:solidFill>
                          <a:latin typeface="Microsoft YaHei"/>
                        </a:rPr>
                        <a:t>内部 8000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75569"/>
                          </a:solidFill>
                          <a:latin typeface="Microsoft YaHei"/>
                        </a:rPr>
                        <a:t>Python 3.10 / requirements.txt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Microsoft YaHei"/>
                        </a:rPr>
                        <a:t>redis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75569"/>
                          </a:solidFill>
                          <a:latin typeface="Microsoft YaHei"/>
                        </a:rPr>
                        <a:t>缓存会话记忆；未连接时可降级为进程内内存字典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75569"/>
                          </a:solidFill>
                          <a:latin typeface="Microsoft YaHei"/>
                        </a:rPr>
                        <a:t>内部 6379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75569"/>
                          </a:solidFill>
                          <a:latin typeface="Microsoft YaHei"/>
                        </a:rPr>
                        <a:t>redis:7-alpine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Microsoft YaHei"/>
                        </a:rPr>
                        <a:t>持久化卷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75569"/>
                          </a:solidFill>
                          <a:latin typeface="Microsoft YaHei"/>
                        </a:rPr>
                        <a:t>保存 SQLite、Chroma、TTS 资源、HF 模型缓存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75569"/>
                          </a:solidFill>
                          <a:latin typeface="Microsoft YaHei"/>
                        </a:rPr>
                        <a:t>宿主卷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75569"/>
                          </a:solidFill>
                          <a:latin typeface="Microsoft YaHei"/>
                        </a:rPr>
                        <a:t>backend_data / redis_data / hf_cache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94360" y="3794760"/>
            <a:ext cx="48463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3794760"/>
            <a:ext cx="128016" cy="1691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3816" y="3904488"/>
            <a:ext cx="45354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Microsoft YaHei"/>
              </a:rPr>
              <a:t>启动过程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4270248"/>
            <a:ext cx="4535424" cy="11247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475569"/>
                </a:solidFill>
                <a:latin typeface="Microsoft YaHei"/>
              </a:rPr>
              <a:t>• 启动 backend 时自动执行资料同步与向量库初始化。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475569"/>
                </a:solidFill>
                <a:latin typeface="Microsoft YaHei"/>
              </a:rPr>
              <a:t>• 首次启动需下载 bge-m3 模型，因此冷启动时间较长。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475569"/>
                </a:solidFill>
                <a:latin typeface="Microsoft YaHei"/>
              </a:rPr>
              <a:t>• 所有前端默认通过 Nginx 与 Vite 代理访问 /api。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3794760"/>
            <a:ext cx="50292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23560" y="3794760"/>
            <a:ext cx="128016" cy="1691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43016" y="3904488"/>
            <a:ext cx="47183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Microsoft YaHei"/>
              </a:rPr>
              <a:t>运维侧特征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3016" y="4270248"/>
            <a:ext cx="4718304" cy="11247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475569"/>
                </a:solidFill>
                <a:latin typeface="Microsoft YaHei"/>
              </a:rPr>
              <a:t>• 数据层以 SQLite + Chroma 为主，易部署但不适合大规模高并发。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475569"/>
                </a:solidFill>
                <a:latin typeface="Microsoft YaHei"/>
              </a:rPr>
              <a:t>• 配置项集中在 backend/.env，支持切换 LLM、ASR、TTS、鉴权和索引策略。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475569"/>
                </a:solidFill>
                <a:latin typeface="Microsoft YaHei"/>
              </a:rPr>
              <a:t>• 整个系统更偏单机演示架构，而不是生产级高可用集群。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63550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75569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Microsoft YaHei"/>
              </a:rPr>
              <a:t>4. 后端目录与模块职责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475569"/>
                </a:solidFill>
                <a:latin typeface="Microsoft YaHei"/>
              </a:rPr>
              <a:t>backend/app 按 API、services、models、schemas、core、utils 分层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87552"/>
            <a:ext cx="10972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46634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371600"/>
            <a:ext cx="128016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3816" y="1481328"/>
            <a:ext cx="43525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Microsoft YaHei"/>
              </a:rPr>
              <a:t>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1847088"/>
            <a:ext cx="4352544" cy="10789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475569"/>
                </a:solidFill>
                <a:latin typeface="Microsoft YaHei"/>
              </a:rPr>
              <a:t>• v1 下按 chat / asr / tts / recommend / avatar / admin 划分接口入口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371600"/>
            <a:ext cx="46634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0" y="1371600"/>
            <a:ext cx="128016" cy="1645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88736" y="1481328"/>
            <a:ext cx="43525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Microsoft YaHei"/>
              </a:rPr>
              <a:t>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88736" y="1847088"/>
            <a:ext cx="4352544" cy="10789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475569"/>
                </a:solidFill>
                <a:latin typeface="Microsoft YaHei"/>
              </a:rPr>
              <a:t>• 承载业务编排与 AI 能力接入，是真正的核心层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383280"/>
            <a:ext cx="46634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" y="3383280"/>
            <a:ext cx="128016" cy="1645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6" y="3493008"/>
            <a:ext cx="43525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Microsoft YaHei"/>
              </a:rPr>
              <a:t>models &amp; schemas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3858768"/>
            <a:ext cx="4352544" cy="10789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475569"/>
                </a:solidFill>
                <a:latin typeface="Microsoft YaHei"/>
              </a:rPr>
              <a:t>• SQLAlchemy 模型保存文档和会话；Pydantic 模型定义接口契约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0" y="3383280"/>
            <a:ext cx="46634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0" y="3383280"/>
            <a:ext cx="128016" cy="1645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88736" y="3493008"/>
            <a:ext cx="43525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Microsoft YaHei"/>
              </a:rPr>
              <a:t>core &amp; utils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88736" y="3858768"/>
            <a:ext cx="4352544" cy="10789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475569"/>
                </a:solidFill>
                <a:latin typeface="Microsoft YaHei"/>
              </a:rPr>
              <a:t>• 配置、数据库、鉴权、统一响应、ID 生成、文本分块等基础能力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440680"/>
            <a:ext cx="100584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4360" y="5440680"/>
            <a:ext cx="128016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3816" y="5550408"/>
            <a:ext cx="97475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Microsoft YaHei"/>
              </a:rPr>
              <a:t>结论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" y="5916168"/>
            <a:ext cx="9747504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475569"/>
                </a:solidFill>
                <a:latin typeface="Microsoft YaHei"/>
              </a:rPr>
              <a:t>• 后端设计并不复杂，但分层比较工整，适合在汇报中强调“职责清晰、便于替换模型与前端组件”。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78440" y="63550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75569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396935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0F172A"/>
                </a:solidFill>
                <a:latin typeface="Microsoft YaHei"/>
              </a:rPr>
              <a:t>5. </a:t>
            </a:r>
            <a:r>
              <a:rPr sz="2400" b="1" dirty="0" err="1">
                <a:solidFill>
                  <a:srgbClr val="0F172A"/>
                </a:solidFill>
                <a:latin typeface="Microsoft YaHei"/>
              </a:rPr>
              <a:t>核心问答链路</a:t>
            </a:r>
            <a:r>
              <a:rPr lang="en-US" sz="2400" b="1" dirty="0">
                <a:solidFill>
                  <a:srgbClr val="0F172A"/>
                </a:solidFill>
                <a:latin typeface="Microsoft YaHei"/>
              </a:rPr>
              <a:t>—</a:t>
            </a:r>
            <a:r>
              <a:rPr lang="zh-CN" altLang="en-US" sz="2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核心亮点</a:t>
            </a:r>
            <a:endParaRPr sz="2400" b="1" dirty="0">
              <a:solidFill>
                <a:srgbClr val="0F172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475569"/>
                </a:solidFill>
                <a:latin typeface="Microsoft YaHei"/>
              </a:rPr>
              <a:t>聊天主流程由 ChatService 串联：记忆 -&gt; 检索 -&gt; 生成 -&gt; 合成 -&gt; 返回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87552"/>
            <a:ext cx="10972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48640" cy="512064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1362456"/>
            <a:ext cx="91440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17320" y="1362456"/>
            <a:ext cx="128016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36776" y="1472184"/>
            <a:ext cx="88331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Microsoft YaHei"/>
              </a:rPr>
              <a:t>读取会话记忆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6776" y="1723644"/>
            <a:ext cx="8833104" cy="91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 dirty="0">
                <a:solidFill>
                  <a:srgbClr val="475569"/>
                </a:solidFill>
                <a:latin typeface="Microsoft YaHei"/>
              </a:rPr>
              <a:t>• 从 </a:t>
            </a:r>
            <a:r>
              <a:rPr sz="1100" dirty="0" err="1">
                <a:solidFill>
                  <a:srgbClr val="475569"/>
                </a:solidFill>
                <a:latin typeface="Microsoft YaHei"/>
              </a:rPr>
              <a:t>sessionId</a:t>
            </a:r>
            <a:r>
              <a:rPr sz="1100" dirty="0">
                <a:solidFill>
                  <a:srgbClr val="475569"/>
                </a:solidFill>
                <a:latin typeface="Microsoft YaHei"/>
              </a:rPr>
              <a:t> </a:t>
            </a:r>
            <a:r>
              <a:rPr sz="1100" dirty="0" err="1">
                <a:solidFill>
                  <a:srgbClr val="475569"/>
                </a:solidFill>
                <a:latin typeface="Microsoft YaHei"/>
              </a:rPr>
              <a:t>获取最近</a:t>
            </a:r>
            <a:r>
              <a:rPr sz="1100" dirty="0">
                <a:solidFill>
                  <a:srgbClr val="475569"/>
                </a:solidFill>
                <a:latin typeface="Microsoft YaHei"/>
              </a:rPr>
              <a:t> 3 </a:t>
            </a:r>
            <a:r>
              <a:rPr sz="1100" dirty="0" err="1">
                <a:solidFill>
                  <a:srgbClr val="475569"/>
                </a:solidFill>
                <a:latin typeface="Microsoft YaHei"/>
              </a:rPr>
              <a:t>轮历史，保证上下文追问成立</a:t>
            </a:r>
            <a:endParaRPr sz="1100" dirty="0">
              <a:solidFill>
                <a:srgbClr val="475569"/>
              </a:solidFill>
              <a:latin typeface="Microsoft YaHe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1520" y="2331720"/>
            <a:ext cx="548640" cy="512064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2276856"/>
            <a:ext cx="91440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417320" y="2276856"/>
            <a:ext cx="128016" cy="6583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36776" y="2386584"/>
            <a:ext cx="88331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Microsoft YaHei"/>
              </a:rPr>
              <a:t>RAG 检索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36776" y="2650998"/>
            <a:ext cx="8833104" cy="91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 dirty="0">
                <a:solidFill>
                  <a:srgbClr val="475569"/>
                </a:solidFill>
                <a:latin typeface="Microsoft YaHei"/>
              </a:rPr>
              <a:t>• </a:t>
            </a:r>
            <a:r>
              <a:rPr sz="1100" dirty="0" err="1">
                <a:solidFill>
                  <a:srgbClr val="475569"/>
                </a:solidFill>
                <a:latin typeface="Microsoft YaHei"/>
              </a:rPr>
              <a:t>通过</a:t>
            </a:r>
            <a:r>
              <a:rPr sz="1100" dirty="0">
                <a:solidFill>
                  <a:srgbClr val="475569"/>
                </a:solidFill>
                <a:latin typeface="Microsoft YaHei"/>
              </a:rPr>
              <a:t> Chroma </a:t>
            </a:r>
            <a:r>
              <a:rPr sz="1100" dirty="0" err="1">
                <a:solidFill>
                  <a:srgbClr val="475569"/>
                </a:solidFill>
                <a:latin typeface="Microsoft YaHei"/>
              </a:rPr>
              <a:t>检索</a:t>
            </a:r>
            <a:r>
              <a:rPr sz="1100" dirty="0">
                <a:solidFill>
                  <a:srgbClr val="475569"/>
                </a:solidFill>
                <a:latin typeface="Microsoft YaHei"/>
              </a:rPr>
              <a:t> top-3 </a:t>
            </a:r>
            <a:r>
              <a:rPr sz="1100" dirty="0" err="1">
                <a:solidFill>
                  <a:srgbClr val="475569"/>
                </a:solidFill>
                <a:latin typeface="Microsoft YaHei"/>
              </a:rPr>
              <a:t>文档块并抽取</a:t>
            </a:r>
            <a:r>
              <a:rPr sz="1100" dirty="0">
                <a:solidFill>
                  <a:srgbClr val="475569"/>
                </a:solidFill>
                <a:latin typeface="Microsoft YaHei"/>
              </a:rPr>
              <a:t> source </a:t>
            </a:r>
            <a:r>
              <a:rPr sz="1100" dirty="0" err="1">
                <a:solidFill>
                  <a:srgbClr val="475569"/>
                </a:solidFill>
                <a:latin typeface="Microsoft YaHei"/>
              </a:rPr>
              <a:t>列表</a:t>
            </a:r>
            <a:endParaRPr sz="1100" dirty="0">
              <a:solidFill>
                <a:srgbClr val="475569"/>
              </a:solidFill>
              <a:latin typeface="Microsoft YaHe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31520" y="3246120"/>
            <a:ext cx="548640" cy="512064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17320" y="3191256"/>
            <a:ext cx="91440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417320" y="3191256"/>
            <a:ext cx="128016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36776" y="3300984"/>
            <a:ext cx="88331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Microsoft YaHei"/>
              </a:rPr>
              <a:t>LLM 生成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36776" y="3584448"/>
            <a:ext cx="8833104" cy="91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 dirty="0">
                <a:solidFill>
                  <a:srgbClr val="475569"/>
                </a:solidFill>
                <a:latin typeface="Microsoft YaHei"/>
              </a:rPr>
              <a:t>• </a:t>
            </a:r>
            <a:r>
              <a:rPr sz="1100" dirty="0" err="1">
                <a:solidFill>
                  <a:srgbClr val="475569"/>
                </a:solidFill>
                <a:latin typeface="Microsoft YaHei"/>
              </a:rPr>
              <a:t>把参考资料、历史对话、兴趣偏好拼成</a:t>
            </a:r>
            <a:r>
              <a:rPr sz="1100" dirty="0">
                <a:solidFill>
                  <a:srgbClr val="475569"/>
                </a:solidFill>
                <a:latin typeface="Microsoft YaHei"/>
              </a:rPr>
              <a:t> Prompt </a:t>
            </a:r>
            <a:r>
              <a:rPr sz="1100" dirty="0" err="1">
                <a:solidFill>
                  <a:srgbClr val="475569"/>
                </a:solidFill>
                <a:latin typeface="Microsoft YaHei"/>
              </a:rPr>
              <a:t>调用模型</a:t>
            </a:r>
            <a:endParaRPr sz="1100" dirty="0">
              <a:solidFill>
                <a:srgbClr val="475569"/>
              </a:solidFill>
              <a:latin typeface="Microsoft YaHe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31520" y="4160520"/>
            <a:ext cx="548640" cy="512064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17320" y="4105656"/>
            <a:ext cx="91440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417320" y="4105656"/>
            <a:ext cx="128016" cy="6583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636776" y="4215384"/>
            <a:ext cx="88331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Microsoft YaHei"/>
              </a:rPr>
              <a:t>TTS 合成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36776" y="4533519"/>
            <a:ext cx="8833104" cy="91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475569"/>
                </a:solidFill>
                <a:latin typeface="Microsoft YaHei"/>
              </a:rPr>
              <a:t>• 将 answerText 合成为音频与 phonemes / duration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074920"/>
            <a:ext cx="548640" cy="512064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17320" y="5020056"/>
            <a:ext cx="91440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417320" y="5020056"/>
            <a:ext cx="128016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636776" y="5129784"/>
            <a:ext cx="88331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Microsoft YaHei"/>
              </a:rPr>
              <a:t>会话更新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36776" y="5388483"/>
            <a:ext cx="8833104" cy="91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 dirty="0">
                <a:solidFill>
                  <a:srgbClr val="475569"/>
                </a:solidFill>
                <a:latin typeface="Microsoft YaHei"/>
              </a:rPr>
              <a:t>• </a:t>
            </a:r>
            <a:r>
              <a:rPr sz="1100" dirty="0" err="1">
                <a:solidFill>
                  <a:srgbClr val="475569"/>
                </a:solidFill>
                <a:latin typeface="Microsoft YaHei"/>
              </a:rPr>
              <a:t>把本轮用户问题与回答写回会话记忆，形成闭环</a:t>
            </a:r>
            <a:endParaRPr sz="1100" dirty="0">
              <a:solidFill>
                <a:srgbClr val="475569"/>
              </a:solidFill>
              <a:latin typeface="Microsoft YaHe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31520" y="6126480"/>
            <a:ext cx="9966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Microsoft YaHei"/>
              </a:rPr>
              <a:t>置信度是检索置信度与 LLM 置信度的组合值；若无检索命中，系统会降到低置信度并返回礼貌兜底话术。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78440" y="63550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75569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Microsoft YaHei"/>
              </a:rPr>
              <a:t>6. 知识库处理与 RAG 技术细节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310854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 err="1">
                <a:solidFill>
                  <a:srgbClr val="FF0000"/>
                </a:solidFill>
                <a:latin typeface="Microsoft YaHei"/>
              </a:rPr>
              <a:t>系统依赖官方资料包构建本地知识检索能力</a:t>
            </a:r>
            <a:endParaRPr sz="1200" dirty="0">
              <a:solidFill>
                <a:srgbClr val="FF0000"/>
              </a:solidFill>
              <a:latin typeface="Microsoft YaHe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11480" y="987552"/>
            <a:ext cx="10972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49377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128016" cy="4297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3816" y="1435608"/>
            <a:ext cx="198002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 err="1">
                <a:solidFill>
                  <a:srgbClr val="0F172A"/>
                </a:solidFill>
                <a:latin typeface="Microsoft YaHei"/>
              </a:rPr>
              <a:t>文档处理流水线</a:t>
            </a:r>
            <a:endParaRPr sz="2000" b="1" dirty="0">
              <a:solidFill>
                <a:srgbClr val="0F172A"/>
              </a:solidFill>
              <a:latin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13816" y="1801368"/>
            <a:ext cx="4626864" cy="301621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dirty="0">
                <a:solidFill>
                  <a:srgbClr val="475569"/>
                </a:solidFill>
                <a:latin typeface="Microsoft YaHei"/>
              </a:rPr>
              <a:t>•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支持</a:t>
            </a:r>
            <a:r>
              <a:rPr dirty="0">
                <a:solidFill>
                  <a:srgbClr val="475569"/>
                </a:solidFill>
                <a:latin typeface="Microsoft YaHei"/>
              </a:rPr>
              <a:t> .pdf / .txt / .md / .docx / .xlsx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五类输入，其中</a:t>
            </a:r>
            <a:r>
              <a:rPr dirty="0">
                <a:solidFill>
                  <a:srgbClr val="475569"/>
                </a:solidFill>
                <a:latin typeface="Microsoft YaHei"/>
              </a:rPr>
              <a:t> xlsx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会被转成可检索的结构化景点文本</a:t>
            </a:r>
            <a:r>
              <a:rPr dirty="0">
                <a:solidFill>
                  <a:srgbClr val="475569"/>
                </a:solidFill>
                <a:latin typeface="Microsoft YaHei"/>
              </a:rPr>
              <a:t>。</a:t>
            </a:r>
          </a:p>
          <a:p>
            <a:pPr>
              <a:spcAft>
                <a:spcPts val="400"/>
              </a:spcAft>
            </a:pPr>
            <a:r>
              <a:rPr dirty="0">
                <a:solidFill>
                  <a:srgbClr val="475569"/>
                </a:solidFill>
                <a:latin typeface="Microsoft YaHei"/>
              </a:rPr>
              <a:t>•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处理状态流转为</a:t>
            </a:r>
            <a:r>
              <a:rPr dirty="0">
                <a:solidFill>
                  <a:srgbClr val="475569"/>
                </a:solidFill>
                <a:latin typeface="Microsoft YaHei"/>
              </a:rPr>
              <a:t> pending -&gt; parsing -&gt; chunking -&gt; indexing -&gt; ready/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failed，便于后台轮询展示进度</a:t>
            </a:r>
            <a:r>
              <a:rPr dirty="0">
                <a:solidFill>
                  <a:srgbClr val="475569"/>
                </a:solidFill>
                <a:latin typeface="Microsoft YaHei"/>
              </a:rPr>
              <a:t>。</a:t>
            </a:r>
          </a:p>
          <a:p>
            <a:pPr>
              <a:spcAft>
                <a:spcPts val="400"/>
              </a:spcAft>
            </a:pPr>
            <a:r>
              <a:rPr dirty="0">
                <a:solidFill>
                  <a:srgbClr val="475569"/>
                </a:solidFill>
                <a:latin typeface="Microsoft YaHei"/>
              </a:rPr>
              <a:t>•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分块参数由配置驱动，默认</a:t>
            </a:r>
            <a:r>
              <a:rPr dirty="0">
                <a:solidFill>
                  <a:srgbClr val="475569"/>
                </a:solidFill>
                <a:latin typeface="Microsoft YaHei"/>
              </a:rPr>
              <a:t>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chunk_size</a:t>
            </a:r>
            <a:r>
              <a:rPr dirty="0">
                <a:solidFill>
                  <a:srgbClr val="475569"/>
                </a:solidFill>
                <a:latin typeface="Microsoft YaHei"/>
              </a:rPr>
              <a:t>=500、overlap=50。</a:t>
            </a:r>
          </a:p>
          <a:p>
            <a:pPr>
              <a:spcAft>
                <a:spcPts val="400"/>
              </a:spcAft>
            </a:pPr>
            <a:r>
              <a:rPr dirty="0">
                <a:solidFill>
                  <a:srgbClr val="475569"/>
                </a:solidFill>
                <a:latin typeface="Microsoft YaHei"/>
              </a:rPr>
              <a:t>•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重复上传时会先删除旧向量，再按批次写入</a:t>
            </a:r>
            <a:r>
              <a:rPr dirty="0">
                <a:solidFill>
                  <a:srgbClr val="475569"/>
                </a:solidFill>
                <a:latin typeface="Microsoft YaHei"/>
              </a:rPr>
              <a:t>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Chroma，避免索引污染</a:t>
            </a:r>
            <a:r>
              <a:rPr sz="1100" dirty="0">
                <a:solidFill>
                  <a:srgbClr val="475569"/>
                </a:solidFill>
                <a:latin typeface="Microsoft YaHei"/>
              </a:rPr>
              <a:t>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0" y="1325880"/>
            <a:ext cx="49377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0" y="1325880"/>
            <a:ext cx="128016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34456" y="1435608"/>
            <a:ext cx="172354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 err="1">
                <a:solidFill>
                  <a:srgbClr val="0F172A"/>
                </a:solidFill>
                <a:latin typeface="Microsoft YaHei"/>
              </a:rPr>
              <a:t>向量检索实现</a:t>
            </a:r>
            <a:endParaRPr sz="2000" b="1" dirty="0">
              <a:solidFill>
                <a:srgbClr val="0F172A"/>
              </a:solidFill>
              <a:latin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34456" y="1801368"/>
            <a:ext cx="4626864" cy="204158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2000" dirty="0">
                <a:solidFill>
                  <a:srgbClr val="475569"/>
                </a:solidFill>
                <a:latin typeface="Microsoft YaHei"/>
              </a:rPr>
              <a:t>• Chroma </a:t>
            </a:r>
            <a:r>
              <a:rPr sz="2000" dirty="0" err="1">
                <a:solidFill>
                  <a:srgbClr val="475569"/>
                </a:solidFill>
                <a:latin typeface="Microsoft YaHei"/>
              </a:rPr>
              <a:t>使用</a:t>
            </a:r>
            <a:r>
              <a:rPr sz="2000" dirty="0">
                <a:solidFill>
                  <a:srgbClr val="475569"/>
                </a:solidFill>
                <a:latin typeface="Microsoft YaHei"/>
              </a:rPr>
              <a:t> </a:t>
            </a:r>
            <a:r>
              <a:rPr sz="2000" dirty="0" err="1">
                <a:solidFill>
                  <a:srgbClr val="475569"/>
                </a:solidFill>
                <a:latin typeface="Microsoft YaHei"/>
              </a:rPr>
              <a:t>PersistentClient</a:t>
            </a:r>
            <a:r>
              <a:rPr sz="2000" dirty="0">
                <a:solidFill>
                  <a:srgbClr val="475569"/>
                </a:solidFill>
                <a:latin typeface="Microsoft YaHei"/>
              </a:rPr>
              <a:t> </a:t>
            </a:r>
            <a:r>
              <a:rPr sz="2000" dirty="0" err="1">
                <a:solidFill>
                  <a:srgbClr val="475569"/>
                </a:solidFill>
                <a:latin typeface="Microsoft YaHei"/>
              </a:rPr>
              <a:t>落盘，便于单机部署与演示</a:t>
            </a:r>
            <a:r>
              <a:rPr sz="2000" dirty="0">
                <a:solidFill>
                  <a:srgbClr val="475569"/>
                </a:solidFill>
                <a:latin typeface="Microsoft YaHei"/>
              </a:rPr>
              <a:t>。</a:t>
            </a:r>
          </a:p>
          <a:p>
            <a:pPr>
              <a:spcAft>
                <a:spcPts val="400"/>
              </a:spcAft>
            </a:pPr>
            <a:r>
              <a:rPr sz="2000" dirty="0">
                <a:solidFill>
                  <a:srgbClr val="475569"/>
                </a:solidFill>
                <a:latin typeface="Microsoft YaHei"/>
              </a:rPr>
              <a:t>• </a:t>
            </a:r>
            <a:r>
              <a:rPr sz="2000" dirty="0" err="1">
                <a:solidFill>
                  <a:srgbClr val="475569"/>
                </a:solidFill>
                <a:latin typeface="Microsoft YaHei"/>
              </a:rPr>
              <a:t>嵌入模型默认采用</a:t>
            </a:r>
            <a:r>
              <a:rPr sz="2000" dirty="0">
                <a:solidFill>
                  <a:srgbClr val="475569"/>
                </a:solidFill>
                <a:latin typeface="Microsoft YaHei"/>
              </a:rPr>
              <a:t> BAAI/bge-m3，通过 sentence-transformers </a:t>
            </a:r>
            <a:r>
              <a:rPr sz="2000" dirty="0" err="1">
                <a:solidFill>
                  <a:srgbClr val="475569"/>
                </a:solidFill>
                <a:latin typeface="Microsoft YaHei"/>
              </a:rPr>
              <a:t>延迟加载</a:t>
            </a:r>
            <a:r>
              <a:rPr sz="2000" dirty="0">
                <a:solidFill>
                  <a:srgbClr val="475569"/>
                </a:solidFill>
                <a:latin typeface="Microsoft YaHei"/>
              </a:rPr>
              <a:t>。</a:t>
            </a:r>
          </a:p>
          <a:p>
            <a:pPr>
              <a:spcAft>
                <a:spcPts val="400"/>
              </a:spcAft>
            </a:pPr>
            <a:r>
              <a:rPr sz="2000" dirty="0">
                <a:solidFill>
                  <a:srgbClr val="475569"/>
                </a:solidFill>
                <a:latin typeface="Microsoft YaHei"/>
              </a:rPr>
              <a:t>• </a:t>
            </a:r>
            <a:r>
              <a:rPr sz="2000" dirty="0" err="1">
                <a:solidFill>
                  <a:srgbClr val="475569"/>
                </a:solidFill>
                <a:latin typeface="Microsoft YaHei"/>
              </a:rPr>
              <a:t>相似度空间配置为</a:t>
            </a:r>
            <a:r>
              <a:rPr sz="2000" dirty="0">
                <a:solidFill>
                  <a:srgbClr val="475569"/>
                </a:solidFill>
                <a:latin typeface="Microsoft YaHei"/>
              </a:rPr>
              <a:t> </a:t>
            </a:r>
            <a:r>
              <a:rPr sz="2000" dirty="0" err="1">
                <a:solidFill>
                  <a:srgbClr val="475569"/>
                </a:solidFill>
                <a:latin typeface="Microsoft YaHei"/>
              </a:rPr>
              <a:t>cosine，并将距离映射为</a:t>
            </a:r>
            <a:r>
              <a:rPr sz="2000" dirty="0">
                <a:solidFill>
                  <a:srgbClr val="475569"/>
                </a:solidFill>
                <a:latin typeface="Microsoft YaHei"/>
              </a:rPr>
              <a:t> [0,1] </a:t>
            </a:r>
            <a:r>
              <a:rPr sz="2000" dirty="0" err="1">
                <a:solidFill>
                  <a:srgbClr val="475569"/>
                </a:solidFill>
                <a:latin typeface="Microsoft YaHei"/>
              </a:rPr>
              <a:t>置信度供上层合成</a:t>
            </a:r>
            <a:r>
              <a:rPr sz="2000" dirty="0">
                <a:solidFill>
                  <a:srgbClr val="475569"/>
                </a:solidFill>
                <a:latin typeface="Microsoft YaHei"/>
              </a:rPr>
              <a:t>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78440" y="63550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75569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Microsoft YaHei"/>
              </a:rPr>
              <a:t>7. LLM / ASR / TTS / 数字人链路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572464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 err="1">
                <a:solidFill>
                  <a:srgbClr val="475569"/>
                </a:solidFill>
                <a:latin typeface="Microsoft YaHei"/>
              </a:rPr>
              <a:t>系统把语义理解、语音处理和呈现层结合成完整的人机交互链</a:t>
            </a:r>
            <a:endParaRPr sz="1600" dirty="0">
              <a:solidFill>
                <a:srgbClr val="475569"/>
              </a:solidFill>
              <a:latin typeface="Microsoft YaHe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11480" y="1130061"/>
            <a:ext cx="10972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46634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371600"/>
            <a:ext cx="128016" cy="1920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3816" y="1481328"/>
            <a:ext cx="106471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0F172A"/>
                </a:solidFill>
                <a:latin typeface="Microsoft YaHei"/>
              </a:rPr>
              <a:t>LLM 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1847088"/>
            <a:ext cx="4352544" cy="125162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dirty="0">
                <a:solidFill>
                  <a:srgbClr val="475569"/>
                </a:solidFill>
                <a:latin typeface="Microsoft YaHei"/>
              </a:rPr>
              <a:t>•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支持</a:t>
            </a:r>
            <a:r>
              <a:rPr dirty="0">
                <a:solidFill>
                  <a:srgbClr val="475569"/>
                </a:solidFill>
                <a:latin typeface="Microsoft YaHei"/>
              </a:rPr>
              <a:t> mock 与 OpenAI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兼容接口两种模式，可接</a:t>
            </a:r>
            <a:r>
              <a:rPr dirty="0">
                <a:solidFill>
                  <a:srgbClr val="475569"/>
                </a:solidFill>
                <a:latin typeface="Microsoft YaHei"/>
              </a:rPr>
              <a:t> DeepSeek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等平台</a:t>
            </a:r>
            <a:endParaRPr dirty="0">
              <a:solidFill>
                <a:srgbClr val="475569"/>
              </a:solidFill>
              <a:latin typeface="Microsoft YaHei"/>
            </a:endParaRPr>
          </a:p>
          <a:p>
            <a:pPr>
              <a:spcAft>
                <a:spcPts val="400"/>
              </a:spcAft>
            </a:pPr>
            <a:r>
              <a:rPr dirty="0">
                <a:solidFill>
                  <a:srgbClr val="475569"/>
                </a:solidFill>
                <a:latin typeface="Microsoft YaHei"/>
              </a:rPr>
              <a:t>• Prompt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明确要求严格依据官方资料，降低幻觉</a:t>
            </a:r>
            <a:endParaRPr dirty="0">
              <a:solidFill>
                <a:srgbClr val="475569"/>
              </a:solidFill>
              <a:latin typeface="Microsoft YaHe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69280" y="1371600"/>
            <a:ext cx="46634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0" y="1371600"/>
            <a:ext cx="128016" cy="1920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88736" y="1481328"/>
            <a:ext cx="104387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0F172A"/>
                </a:solidFill>
                <a:latin typeface="Microsoft YaHei"/>
              </a:rPr>
              <a:t>ASR 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88736" y="1847088"/>
            <a:ext cx="4352544" cy="125162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dirty="0">
                <a:solidFill>
                  <a:srgbClr val="475569"/>
                </a:solidFill>
                <a:latin typeface="Microsoft YaHei"/>
              </a:rPr>
              <a:t>•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后端支持</a:t>
            </a:r>
            <a:r>
              <a:rPr dirty="0">
                <a:solidFill>
                  <a:srgbClr val="475569"/>
                </a:solidFill>
                <a:latin typeface="Microsoft YaHei"/>
              </a:rPr>
              <a:t> faster-whisper 与 OpenAI Whisper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路径</a:t>
            </a:r>
            <a:endParaRPr dirty="0">
              <a:solidFill>
                <a:srgbClr val="475569"/>
              </a:solidFill>
              <a:latin typeface="Microsoft YaHei"/>
            </a:endParaRPr>
          </a:p>
          <a:p>
            <a:pPr>
              <a:spcAft>
                <a:spcPts val="400"/>
              </a:spcAft>
            </a:pPr>
            <a:r>
              <a:rPr dirty="0">
                <a:solidFill>
                  <a:srgbClr val="475569"/>
                </a:solidFill>
                <a:latin typeface="Microsoft YaHei"/>
              </a:rPr>
              <a:t>•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前端录音会重采样为</a:t>
            </a:r>
            <a:r>
              <a:rPr dirty="0">
                <a:solidFill>
                  <a:srgbClr val="475569"/>
                </a:solidFill>
                <a:latin typeface="Microsoft YaHei"/>
              </a:rPr>
              <a:t> 16kHz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单声道</a:t>
            </a:r>
            <a:r>
              <a:rPr dirty="0">
                <a:solidFill>
                  <a:srgbClr val="475569"/>
                </a:solidFill>
                <a:latin typeface="Microsoft YaHei"/>
              </a:rPr>
              <a:t>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WAV，贴合识别需求</a:t>
            </a:r>
            <a:endParaRPr dirty="0">
              <a:solidFill>
                <a:srgbClr val="475569"/>
              </a:solidFill>
              <a:latin typeface="Microsoft YaHe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94360" y="3703320"/>
            <a:ext cx="46634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" y="3703320"/>
            <a:ext cx="128016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6" y="3813048"/>
            <a:ext cx="99796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0F172A"/>
                </a:solidFill>
                <a:latin typeface="Microsoft YaHei"/>
              </a:rPr>
              <a:t>TTS 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4178808"/>
            <a:ext cx="4352544" cy="137473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2000" dirty="0">
                <a:solidFill>
                  <a:srgbClr val="475569"/>
                </a:solidFill>
                <a:latin typeface="Microsoft YaHei"/>
              </a:rPr>
              <a:t>• Edge-TTS </a:t>
            </a:r>
            <a:r>
              <a:rPr sz="2000" dirty="0" err="1">
                <a:solidFill>
                  <a:srgbClr val="475569"/>
                </a:solidFill>
                <a:latin typeface="Microsoft YaHei"/>
              </a:rPr>
              <a:t>负责语音合成，返回</a:t>
            </a:r>
            <a:r>
              <a:rPr sz="2000" dirty="0">
                <a:solidFill>
                  <a:srgbClr val="475569"/>
                </a:solidFill>
                <a:latin typeface="Microsoft YaHei"/>
              </a:rPr>
              <a:t> </a:t>
            </a:r>
            <a:r>
              <a:rPr sz="2000" dirty="0" err="1">
                <a:solidFill>
                  <a:srgbClr val="475569"/>
                </a:solidFill>
                <a:latin typeface="Microsoft YaHei"/>
              </a:rPr>
              <a:t>audioUrl、durationMs、phonemes</a:t>
            </a:r>
            <a:endParaRPr sz="2000" dirty="0">
              <a:solidFill>
                <a:srgbClr val="475569"/>
              </a:solidFill>
              <a:latin typeface="Microsoft YaHei"/>
            </a:endParaRPr>
          </a:p>
          <a:p>
            <a:pPr>
              <a:spcAft>
                <a:spcPts val="400"/>
              </a:spcAft>
            </a:pPr>
            <a:r>
              <a:rPr sz="2000" dirty="0">
                <a:solidFill>
                  <a:srgbClr val="475569"/>
                </a:solidFill>
                <a:latin typeface="Microsoft YaHei"/>
              </a:rPr>
              <a:t>• </a:t>
            </a:r>
            <a:r>
              <a:rPr sz="2000" dirty="0" err="1">
                <a:solidFill>
                  <a:srgbClr val="475569"/>
                </a:solidFill>
                <a:latin typeface="Microsoft YaHei"/>
              </a:rPr>
              <a:t>为字幕节奏和口型同步提供结构化时间信息</a:t>
            </a:r>
            <a:endParaRPr sz="2000" dirty="0">
              <a:solidFill>
                <a:srgbClr val="475569"/>
              </a:solidFill>
              <a:latin typeface="Microsoft YaHe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669280" y="3703320"/>
            <a:ext cx="46634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0" y="3703320"/>
            <a:ext cx="128016" cy="1920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88736" y="3813048"/>
            <a:ext cx="12105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 err="1">
                <a:solidFill>
                  <a:srgbClr val="0F172A"/>
                </a:solidFill>
                <a:latin typeface="Microsoft YaHei"/>
              </a:rPr>
              <a:t>数字人层</a:t>
            </a:r>
            <a:endParaRPr sz="2000" b="1" dirty="0">
              <a:solidFill>
                <a:srgbClr val="0F172A"/>
              </a:solidFill>
              <a:latin typeface="Microsoft YaHe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888736" y="4178808"/>
            <a:ext cx="4352544" cy="152862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dirty="0">
                <a:solidFill>
                  <a:srgbClr val="475569"/>
                </a:solidFill>
                <a:latin typeface="Microsoft YaHei"/>
              </a:rPr>
              <a:t>•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当前首页实际使用</a:t>
            </a:r>
            <a:r>
              <a:rPr dirty="0">
                <a:solidFill>
                  <a:srgbClr val="475569"/>
                </a:solidFill>
                <a:latin typeface="Microsoft YaHei"/>
              </a:rPr>
              <a:t>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XfyunAvatar</a:t>
            </a:r>
            <a:r>
              <a:rPr dirty="0">
                <a:solidFill>
                  <a:srgbClr val="475569"/>
                </a:solidFill>
                <a:latin typeface="Microsoft YaHei"/>
              </a:rPr>
              <a:t>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组件，走“文本</a:t>
            </a:r>
            <a:r>
              <a:rPr dirty="0">
                <a:solidFill>
                  <a:srgbClr val="475569"/>
                </a:solidFill>
                <a:latin typeface="Microsoft YaHei"/>
              </a:rPr>
              <a:t> -&gt;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本地播报占位</a:t>
            </a:r>
            <a:r>
              <a:rPr dirty="0">
                <a:solidFill>
                  <a:srgbClr val="475569"/>
                </a:solidFill>
                <a:latin typeface="Microsoft YaHei"/>
              </a:rPr>
              <a:t> -&gt;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服务端生成同步视频</a:t>
            </a:r>
            <a:r>
              <a:rPr dirty="0">
                <a:solidFill>
                  <a:srgbClr val="475569"/>
                </a:solidFill>
                <a:latin typeface="Microsoft YaHei"/>
              </a:rPr>
              <a:t>”</a:t>
            </a:r>
          </a:p>
          <a:p>
            <a:pPr>
              <a:spcAft>
                <a:spcPts val="400"/>
              </a:spcAft>
            </a:pPr>
            <a:r>
              <a:rPr dirty="0">
                <a:solidFill>
                  <a:srgbClr val="475569"/>
                </a:solidFill>
                <a:latin typeface="Microsoft YaHei"/>
              </a:rPr>
              <a:t>•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代码中还保留一套</a:t>
            </a:r>
            <a:r>
              <a:rPr dirty="0">
                <a:solidFill>
                  <a:srgbClr val="475569"/>
                </a:solidFill>
                <a:latin typeface="Microsoft YaHei"/>
              </a:rPr>
              <a:t> Live2D + phoneme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口型同步备用链路</a:t>
            </a:r>
            <a:endParaRPr dirty="0">
              <a:solidFill>
                <a:srgbClr val="475569"/>
              </a:solidFill>
              <a:latin typeface="Microsoft YaHe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378440" y="63550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75569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Microsoft YaHei"/>
              </a:rPr>
              <a:t>8. 游客前台模块拆解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475569"/>
                </a:solidFill>
                <a:latin typeface="Microsoft YaHei"/>
              </a:rPr>
              <a:t>web-client 是单页应用，重点在交互体验与数字人承载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87552"/>
            <a:ext cx="10972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2004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128016" cy="4526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3816" y="1435608"/>
            <a:ext cx="12105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 err="1">
                <a:solidFill>
                  <a:srgbClr val="0F172A"/>
                </a:solidFill>
                <a:latin typeface="Microsoft YaHei"/>
              </a:rPr>
              <a:t>页面组织</a:t>
            </a:r>
            <a:endParaRPr sz="2000" b="1" dirty="0">
              <a:solidFill>
                <a:srgbClr val="0F172A"/>
              </a:solidFill>
              <a:latin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13816" y="1801368"/>
            <a:ext cx="2889504" cy="324191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dirty="0">
                <a:solidFill>
                  <a:srgbClr val="475569"/>
                </a:solidFill>
                <a:latin typeface="Microsoft YaHei"/>
              </a:rPr>
              <a:t>•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不使用</a:t>
            </a:r>
            <a:r>
              <a:rPr dirty="0">
                <a:solidFill>
                  <a:srgbClr val="475569"/>
                </a:solidFill>
                <a:latin typeface="Microsoft YaHei"/>
              </a:rPr>
              <a:t>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vue-router，入口由</a:t>
            </a:r>
            <a:r>
              <a:rPr dirty="0">
                <a:solidFill>
                  <a:srgbClr val="475569"/>
                </a:solidFill>
                <a:latin typeface="Microsoft YaHei"/>
              </a:rPr>
              <a:t>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App.vue</a:t>
            </a:r>
            <a:r>
              <a:rPr dirty="0">
                <a:solidFill>
                  <a:srgbClr val="475569"/>
                </a:solidFill>
                <a:latin typeface="Microsoft YaHei"/>
              </a:rPr>
              <a:t>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直接拼接头部、数字人区和聊天区</a:t>
            </a:r>
            <a:r>
              <a:rPr dirty="0">
                <a:solidFill>
                  <a:srgbClr val="475569"/>
                </a:solidFill>
                <a:latin typeface="Microsoft YaHei"/>
              </a:rPr>
              <a:t>。</a:t>
            </a:r>
          </a:p>
          <a:p>
            <a:pPr>
              <a:spcAft>
                <a:spcPts val="400"/>
              </a:spcAft>
            </a:pPr>
            <a:r>
              <a:rPr dirty="0">
                <a:solidFill>
                  <a:srgbClr val="475569"/>
                </a:solidFill>
                <a:latin typeface="Microsoft YaHei"/>
              </a:rPr>
              <a:t>•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ChatInterface</a:t>
            </a:r>
            <a:r>
              <a:rPr dirty="0">
                <a:solidFill>
                  <a:srgbClr val="475569"/>
                </a:solidFill>
                <a:latin typeface="Microsoft YaHei"/>
              </a:rPr>
              <a:t>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承担欢迎态、消息流、快捷问题、路线弹窗和输入区域</a:t>
            </a:r>
            <a:r>
              <a:rPr dirty="0">
                <a:solidFill>
                  <a:srgbClr val="475569"/>
                </a:solidFill>
                <a:latin typeface="Microsoft YaHei"/>
              </a:rPr>
              <a:t>。</a:t>
            </a:r>
          </a:p>
          <a:p>
            <a:pPr>
              <a:spcAft>
                <a:spcPts val="400"/>
              </a:spcAft>
            </a:pPr>
            <a:r>
              <a:rPr dirty="0">
                <a:solidFill>
                  <a:srgbClr val="475569"/>
                </a:solidFill>
                <a:latin typeface="Microsoft YaHei"/>
              </a:rPr>
              <a:t>•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RouteRecommendModal</a:t>
            </a:r>
            <a:r>
              <a:rPr dirty="0">
                <a:solidFill>
                  <a:srgbClr val="475569"/>
                </a:solidFill>
                <a:latin typeface="Microsoft YaHei"/>
              </a:rPr>
              <a:t>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通过</a:t>
            </a:r>
            <a:r>
              <a:rPr dirty="0">
                <a:solidFill>
                  <a:srgbClr val="475569"/>
                </a:solidFill>
                <a:latin typeface="Microsoft YaHei"/>
              </a:rPr>
              <a:t> Teleport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方式出现，支持列表视图与</a:t>
            </a:r>
            <a:r>
              <a:rPr dirty="0">
                <a:solidFill>
                  <a:srgbClr val="475569"/>
                </a:solidFill>
                <a:latin typeface="Microsoft YaHei"/>
              </a:rPr>
              <a:t> Leaflet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地图</a:t>
            </a:r>
            <a:r>
              <a:rPr dirty="0">
                <a:solidFill>
                  <a:srgbClr val="475569"/>
                </a:solidFill>
                <a:latin typeface="Microsoft YaHei"/>
              </a:rPr>
              <a:t>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325880"/>
            <a:ext cx="32461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069080" y="1325880"/>
            <a:ext cx="128016" cy="4526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88536" y="1435608"/>
            <a:ext cx="12105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 err="1">
                <a:solidFill>
                  <a:srgbClr val="0F172A"/>
                </a:solidFill>
                <a:latin typeface="Microsoft YaHei"/>
              </a:rPr>
              <a:t>状态管理</a:t>
            </a:r>
            <a:endParaRPr sz="2000" b="1" dirty="0">
              <a:solidFill>
                <a:srgbClr val="0F172A"/>
              </a:solidFill>
              <a:latin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88536" y="1801368"/>
            <a:ext cx="2935224" cy="296491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dirty="0">
                <a:solidFill>
                  <a:srgbClr val="475569"/>
                </a:solidFill>
                <a:latin typeface="Microsoft YaHei"/>
              </a:rPr>
              <a:t>•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全局仅有</a:t>
            </a:r>
            <a:r>
              <a:rPr dirty="0">
                <a:solidFill>
                  <a:srgbClr val="475569"/>
                </a:solidFill>
                <a:latin typeface="Microsoft YaHei"/>
              </a:rPr>
              <a:t> chat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Store，保存</a:t>
            </a:r>
            <a:r>
              <a:rPr dirty="0">
                <a:solidFill>
                  <a:srgbClr val="475569"/>
                </a:solidFill>
                <a:latin typeface="Microsoft YaHei"/>
              </a:rPr>
              <a:t>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sessionId、messages、lastAnswer、lastEmotion、lastTts</a:t>
            </a:r>
            <a:r>
              <a:rPr dirty="0">
                <a:solidFill>
                  <a:srgbClr val="475569"/>
                </a:solidFill>
                <a:latin typeface="Microsoft YaHei"/>
              </a:rPr>
              <a:t>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等信息</a:t>
            </a:r>
            <a:r>
              <a:rPr dirty="0">
                <a:solidFill>
                  <a:srgbClr val="475569"/>
                </a:solidFill>
                <a:latin typeface="Microsoft YaHei"/>
              </a:rPr>
              <a:t>。</a:t>
            </a:r>
          </a:p>
          <a:p>
            <a:pPr>
              <a:spcAft>
                <a:spcPts val="400"/>
              </a:spcAft>
            </a:pPr>
            <a:r>
              <a:rPr dirty="0">
                <a:solidFill>
                  <a:srgbClr val="475569"/>
                </a:solidFill>
                <a:latin typeface="Microsoft YaHei"/>
              </a:rPr>
              <a:t>•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sendText</a:t>
            </a:r>
            <a:r>
              <a:rPr dirty="0">
                <a:solidFill>
                  <a:srgbClr val="475569"/>
                </a:solidFill>
                <a:latin typeface="Microsoft YaHei"/>
              </a:rPr>
              <a:t> 与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sendVoice</a:t>
            </a:r>
            <a:r>
              <a:rPr dirty="0">
                <a:solidFill>
                  <a:srgbClr val="475569"/>
                </a:solidFill>
                <a:latin typeface="Microsoft YaHei"/>
              </a:rPr>
              <a:t>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最终复用同一问答接口，体现了前端状态建模的收敛性</a:t>
            </a:r>
            <a:r>
              <a:rPr dirty="0">
                <a:solidFill>
                  <a:srgbClr val="475569"/>
                </a:solidFill>
                <a:latin typeface="Microsoft YaHei"/>
              </a:rPr>
              <a:t>。</a:t>
            </a:r>
          </a:p>
          <a:p>
            <a:pPr>
              <a:spcAft>
                <a:spcPts val="400"/>
              </a:spcAft>
            </a:pPr>
            <a:r>
              <a:rPr dirty="0">
                <a:solidFill>
                  <a:srgbClr val="475569"/>
                </a:solidFill>
                <a:latin typeface="Microsoft YaHei"/>
              </a:rPr>
              <a:t>•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聊天区会根据</a:t>
            </a:r>
            <a:r>
              <a:rPr dirty="0">
                <a:solidFill>
                  <a:srgbClr val="475569"/>
                </a:solidFill>
                <a:latin typeface="Microsoft YaHei"/>
              </a:rPr>
              <a:t>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durationMs</a:t>
            </a:r>
            <a:r>
              <a:rPr dirty="0">
                <a:solidFill>
                  <a:srgbClr val="475569"/>
                </a:solidFill>
                <a:latin typeface="Microsoft YaHei"/>
              </a:rPr>
              <a:t>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驱动打字机效果，让文字揭示速度与语音节奏更一致</a:t>
            </a:r>
            <a:r>
              <a:rPr dirty="0">
                <a:solidFill>
                  <a:srgbClr val="475569"/>
                </a:solidFill>
                <a:latin typeface="Microsoft YaHei"/>
              </a:rPr>
              <a:t>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1325880"/>
            <a:ext cx="3108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543800" y="1325880"/>
            <a:ext cx="128016" cy="45262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63256" y="1435608"/>
            <a:ext cx="172354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 err="1">
                <a:solidFill>
                  <a:srgbClr val="0F172A"/>
                </a:solidFill>
                <a:latin typeface="Microsoft YaHei"/>
              </a:rPr>
              <a:t>语音与数字人</a:t>
            </a:r>
            <a:endParaRPr sz="2000" b="1" dirty="0">
              <a:solidFill>
                <a:srgbClr val="0F172A"/>
              </a:solidFill>
              <a:latin typeface="Microsoft YaHe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63256" y="1801368"/>
            <a:ext cx="2798064" cy="296491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dirty="0">
                <a:solidFill>
                  <a:srgbClr val="475569"/>
                </a:solidFill>
                <a:latin typeface="Microsoft YaHei"/>
              </a:rPr>
              <a:t>•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按住说话组件通过</a:t>
            </a:r>
            <a:r>
              <a:rPr dirty="0">
                <a:solidFill>
                  <a:srgbClr val="475569"/>
                </a:solidFill>
                <a:latin typeface="Microsoft YaHei"/>
              </a:rPr>
              <a:t> Web Audio 采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PCM，再编码为</a:t>
            </a:r>
            <a:r>
              <a:rPr dirty="0">
                <a:solidFill>
                  <a:srgbClr val="475569"/>
                </a:solidFill>
                <a:latin typeface="Microsoft YaHei"/>
              </a:rPr>
              <a:t> WAV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上传</a:t>
            </a:r>
            <a:r>
              <a:rPr dirty="0">
                <a:solidFill>
                  <a:srgbClr val="475569"/>
                </a:solidFill>
                <a:latin typeface="Microsoft YaHei"/>
              </a:rPr>
              <a:t> ASR。</a:t>
            </a:r>
          </a:p>
          <a:p>
            <a:pPr>
              <a:spcAft>
                <a:spcPts val="400"/>
              </a:spcAft>
            </a:pPr>
            <a:r>
              <a:rPr dirty="0">
                <a:solidFill>
                  <a:srgbClr val="475569"/>
                </a:solidFill>
                <a:latin typeface="Microsoft YaHei"/>
              </a:rPr>
              <a:t>•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当前主展示链路是</a:t>
            </a:r>
            <a:r>
              <a:rPr dirty="0">
                <a:solidFill>
                  <a:srgbClr val="475569"/>
                </a:solidFill>
                <a:latin typeface="Microsoft YaHei"/>
              </a:rPr>
              <a:t>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XfyunAvatar，而不是</a:t>
            </a:r>
            <a:r>
              <a:rPr dirty="0">
                <a:solidFill>
                  <a:srgbClr val="475569"/>
                </a:solidFill>
                <a:latin typeface="Microsoft YaHei"/>
              </a:rPr>
              <a:t> Live2D；这说明项目优先保障“可展示视频效果”。</a:t>
            </a:r>
          </a:p>
          <a:p>
            <a:pPr>
              <a:spcAft>
                <a:spcPts val="400"/>
              </a:spcAft>
            </a:pPr>
            <a:r>
              <a:rPr dirty="0">
                <a:solidFill>
                  <a:srgbClr val="475569"/>
                </a:solidFill>
                <a:latin typeface="Microsoft YaHei"/>
              </a:rPr>
              <a:t>•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代码中存在更细粒度的</a:t>
            </a:r>
            <a:r>
              <a:rPr dirty="0">
                <a:solidFill>
                  <a:srgbClr val="475569"/>
                </a:solidFill>
                <a:latin typeface="Microsoft YaHei"/>
              </a:rPr>
              <a:t> phoneme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口型同步实现，具备继续演进空间</a:t>
            </a:r>
            <a:r>
              <a:rPr dirty="0">
                <a:solidFill>
                  <a:srgbClr val="475569"/>
                </a:solidFill>
                <a:latin typeface="Microsoft YaHei"/>
              </a:rPr>
              <a:t>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78440" y="63550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75569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75027-7A67-5E4E-9BA8-E09F1FAAA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B4DF85-3691-26D9-3C86-50F793CC653A}"/>
              </a:ext>
            </a:extLst>
          </p:cNvPr>
          <p:cNvSpPr txBox="1"/>
          <p:nvPr/>
        </p:nvSpPr>
        <p:spPr>
          <a:xfrm>
            <a:off x="411480" y="201168"/>
            <a:ext cx="363753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0F172A"/>
                </a:solidFill>
                <a:latin typeface="Microsoft YaHei"/>
              </a:rPr>
              <a:t>8. </a:t>
            </a:r>
            <a:r>
              <a:rPr sz="2400" b="1" dirty="0" err="1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游客前台模块</a:t>
            </a:r>
            <a:r>
              <a:rPr lang="zh-CN" altLang="en-US" sz="2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效果展示</a:t>
            </a:r>
            <a:endParaRPr sz="2400" b="1" dirty="0">
              <a:solidFill>
                <a:srgbClr val="0F172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3ECC3A-DB90-FCEC-44B5-956AF1047D97}"/>
              </a:ext>
            </a:extLst>
          </p:cNvPr>
          <p:cNvSpPr txBox="1"/>
          <p:nvPr/>
        </p:nvSpPr>
        <p:spPr>
          <a:xfrm>
            <a:off x="10378440" y="63550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75569"/>
                </a:solidFill>
                <a:latin typeface="Microsoft YaHei"/>
              </a:rPr>
              <a:t>09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FB676DAA-DC6C-209F-495B-820DF047E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451" y="1995418"/>
            <a:ext cx="6971097" cy="4359662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1F62CD2D-9E73-3626-45A7-B6CAB5553B46}"/>
              </a:ext>
            </a:extLst>
          </p:cNvPr>
          <p:cNvSpPr txBox="1"/>
          <p:nvPr/>
        </p:nvSpPr>
        <p:spPr>
          <a:xfrm>
            <a:off x="340781" y="825933"/>
            <a:ext cx="116619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整体效果（首页效果）</a:t>
            </a:r>
            <a:endParaRPr lang="en-US" altLang="zh-CN" b="1" dirty="0"/>
          </a:p>
          <a:p>
            <a:r>
              <a:rPr lang="zh-CN" altLang="en-US" b="1" dirty="0"/>
              <a:t>前端使用 </a:t>
            </a:r>
            <a:r>
              <a:rPr lang="en-US" altLang="zh-CN" b="1" dirty="0"/>
              <a:t>Vue 3 </a:t>
            </a:r>
            <a:r>
              <a:rPr lang="zh-CN" altLang="en-US" b="1" dirty="0"/>
              <a:t>和 </a:t>
            </a:r>
            <a:r>
              <a:rPr lang="en-US" altLang="zh-CN" b="1" dirty="0"/>
              <a:t>Vite </a:t>
            </a:r>
            <a:r>
              <a:rPr lang="zh-CN" altLang="en-US" b="1" dirty="0"/>
              <a:t>构建，界面风格偏现代清爽（</a:t>
            </a:r>
            <a:r>
              <a:rPr lang="en-US" altLang="zh-CN" b="1" dirty="0" err="1"/>
              <a:t>deepseek</a:t>
            </a:r>
            <a:r>
              <a:rPr lang="zh-CN" altLang="en-US" b="1" dirty="0"/>
              <a:t>首页风格），适合在景区大屏、自助机或浏览器中展示。</a:t>
            </a:r>
          </a:p>
        </p:txBody>
      </p:sp>
    </p:spTree>
    <p:extLst>
      <p:ext uri="{BB962C8B-B14F-4D97-AF65-F5344CB8AC3E}">
        <p14:creationId xmlns:p14="http://schemas.microsoft.com/office/powerpoint/2010/main" val="12878760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DED91-3245-E7E2-46B4-F16649322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C84F4D-A4A4-656B-0F42-25E6278DF8FF}"/>
              </a:ext>
            </a:extLst>
          </p:cNvPr>
          <p:cNvSpPr txBox="1"/>
          <p:nvPr/>
        </p:nvSpPr>
        <p:spPr>
          <a:xfrm>
            <a:off x="411480" y="201168"/>
            <a:ext cx="363753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0F172A"/>
                </a:solidFill>
                <a:latin typeface="Microsoft YaHei"/>
              </a:rPr>
              <a:t>8. </a:t>
            </a:r>
            <a:r>
              <a:rPr sz="2400" b="1" dirty="0" err="1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游客前台模块</a:t>
            </a:r>
            <a:r>
              <a:rPr lang="zh-CN" altLang="en-US" sz="2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效果展示</a:t>
            </a:r>
            <a:endParaRPr sz="2400" b="1" dirty="0">
              <a:solidFill>
                <a:srgbClr val="0F172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44D298-23E7-DCD5-050F-3D51BCC24C05}"/>
              </a:ext>
            </a:extLst>
          </p:cNvPr>
          <p:cNvSpPr txBox="1"/>
          <p:nvPr/>
        </p:nvSpPr>
        <p:spPr>
          <a:xfrm>
            <a:off x="10378440" y="63550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75569"/>
                </a:solidFill>
                <a:latin typeface="Microsoft YaHei"/>
              </a:rPr>
              <a:t>09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4A6EDAA-381F-345C-70FE-06CF54D6CF18}"/>
              </a:ext>
            </a:extLst>
          </p:cNvPr>
          <p:cNvSpPr txBox="1"/>
          <p:nvPr/>
        </p:nvSpPr>
        <p:spPr>
          <a:xfrm>
            <a:off x="340782" y="825933"/>
            <a:ext cx="53092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向数字人提问，很快检索并作出回答（附带数字人与生成文本的口型同步，数字人发声，支持语音输入与数字人通话交流）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893BFC6-DB73-96C9-8D99-BF791C61C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70" y="2103861"/>
            <a:ext cx="5547359" cy="392820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5E92A2F-6EAF-4FEA-1EB9-15259A6DA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7244" y="1553636"/>
            <a:ext cx="5132022" cy="480144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4723E60-EBB7-EE54-E713-E5FDB560145D}"/>
              </a:ext>
            </a:extLst>
          </p:cNvPr>
          <p:cNvSpPr txBox="1"/>
          <p:nvPr/>
        </p:nvSpPr>
        <p:spPr>
          <a:xfrm>
            <a:off x="6287244" y="636487"/>
            <a:ext cx="53092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推荐路线模块：</a:t>
            </a:r>
            <a:endParaRPr lang="en-US" altLang="zh-CN" b="1" dirty="0"/>
          </a:p>
          <a:p>
            <a:r>
              <a:rPr lang="zh-CN" altLang="en-US" b="1" dirty="0"/>
              <a:t>创新设计：除了回答知识类问题，系统还可以根据游客需求推荐游览路线，例如适合亲子游、深度游、短时间游览等不同场景。</a:t>
            </a:r>
          </a:p>
        </p:txBody>
      </p:sp>
    </p:spTree>
    <p:extLst>
      <p:ext uri="{BB962C8B-B14F-4D97-AF65-F5344CB8AC3E}">
        <p14:creationId xmlns:p14="http://schemas.microsoft.com/office/powerpoint/2010/main" val="3897991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Microsoft YaHei"/>
              </a:rPr>
              <a:t>9. 管理后台模块拆解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408701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rgbClr val="475569"/>
                </a:solidFill>
                <a:latin typeface="Microsoft YaHei"/>
              </a:rPr>
              <a:t>admin-web </a:t>
            </a:r>
            <a:r>
              <a:rPr sz="1400" dirty="0" err="1">
                <a:solidFill>
                  <a:srgbClr val="475569"/>
                </a:solidFill>
                <a:latin typeface="Microsoft YaHei"/>
              </a:rPr>
              <a:t>负责知识维护、运营观测和情感分析</a:t>
            </a:r>
            <a:endParaRPr sz="1400" dirty="0">
              <a:solidFill>
                <a:srgbClr val="475569"/>
              </a:solidFill>
              <a:latin typeface="Microsoft YaHe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11480" y="987552"/>
            <a:ext cx="10972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8783228"/>
              </p:ext>
            </p:extLst>
          </p:nvPr>
        </p:nvGraphicFramePr>
        <p:xfrm>
          <a:off x="594360" y="1325880"/>
          <a:ext cx="10058400" cy="21282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90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页面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核心能力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使用接口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技术说明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906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F172A"/>
                          </a:solidFill>
                          <a:latin typeface="Microsoft YaHei"/>
                        </a:rPr>
                        <a:t>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 err="1">
                          <a:solidFill>
                            <a:srgbClr val="475569"/>
                          </a:solidFill>
                          <a:latin typeface="Microsoft YaHei"/>
                        </a:rPr>
                        <a:t>展示会话数、消息数、热问答、满意度趋势</a:t>
                      </a:r>
                      <a:endParaRPr sz="1600" dirty="0">
                        <a:solidFill>
                          <a:srgbClr val="475569"/>
                        </a:solidFill>
                        <a:latin typeface="Microsoft YaHe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475569"/>
                          </a:solidFill>
                          <a:latin typeface="Microsoft YaHei"/>
                        </a:rPr>
                        <a:t>/api/v1/admin/dashboard/overview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475569"/>
                          </a:solidFill>
                          <a:latin typeface="Microsoft YaHei"/>
                        </a:rPr>
                        <a:t>30 秒轮询刷新，图表基于 ECharts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906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F172A"/>
                          </a:solidFill>
                          <a:latin typeface="Microsoft YaHei"/>
                        </a:rPr>
                        <a:t>KnowledgeManage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475569"/>
                          </a:solidFill>
                          <a:latin typeface="Microsoft YaHei"/>
                        </a:rPr>
                        <a:t>上传资料、轮询索引状态、查看文档处理结果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475569"/>
                          </a:solidFill>
                          <a:latin typeface="Microsoft YaHei"/>
                        </a:rPr>
                        <a:t>/api/v1/admin/kb/documents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475569"/>
                          </a:solidFill>
                          <a:latin typeface="Microsoft YaHei"/>
                        </a:rPr>
                        <a:t>支持 PDF/TXT/MD/DOCX 上传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906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F172A"/>
                          </a:solidFill>
                          <a:latin typeface="Microsoft YaHei"/>
                        </a:rPr>
                        <a:t>SentimentAnalysis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475569"/>
                          </a:solidFill>
                          <a:latin typeface="Microsoft YaHei"/>
                        </a:rPr>
                        <a:t>展示近 7 日情感占比与热点话题词云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475569"/>
                          </a:solidFill>
                          <a:latin typeface="Microsoft YaHei"/>
                        </a:rPr>
                        <a:t>/api/v1/admin/analytics/sentiment-trend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 err="1">
                          <a:solidFill>
                            <a:srgbClr val="475569"/>
                          </a:solidFill>
                          <a:latin typeface="Microsoft YaHei"/>
                        </a:rPr>
                        <a:t>使用</a:t>
                      </a:r>
                      <a:r>
                        <a:rPr sz="1600" dirty="0">
                          <a:solidFill>
                            <a:srgbClr val="475569"/>
                          </a:solidFill>
                          <a:latin typeface="Microsoft YaHei"/>
                        </a:rPr>
                        <a:t> </a:t>
                      </a:r>
                      <a:r>
                        <a:rPr sz="1600" dirty="0" err="1">
                          <a:solidFill>
                            <a:srgbClr val="475569"/>
                          </a:solidFill>
                          <a:latin typeface="Microsoft YaHei"/>
                        </a:rPr>
                        <a:t>echarts-wordcloud</a:t>
                      </a:r>
                      <a:r>
                        <a:rPr sz="1600" dirty="0">
                          <a:solidFill>
                            <a:srgbClr val="475569"/>
                          </a:solidFill>
                          <a:latin typeface="Microsoft YaHei"/>
                        </a:rPr>
                        <a:t> </a:t>
                      </a:r>
                      <a:r>
                        <a:rPr sz="1600" dirty="0" err="1">
                          <a:solidFill>
                            <a:srgbClr val="475569"/>
                          </a:solidFill>
                          <a:latin typeface="Microsoft YaHei"/>
                        </a:rPr>
                        <a:t>做可视化</a:t>
                      </a:r>
                      <a:endParaRPr sz="1600" dirty="0">
                        <a:solidFill>
                          <a:srgbClr val="475569"/>
                        </a:solidFill>
                        <a:latin typeface="Microsoft YaHe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94360" y="4069080"/>
            <a:ext cx="48463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4069080"/>
            <a:ext cx="128016" cy="1554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3816" y="4178808"/>
            <a:ext cx="12105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 err="1">
                <a:solidFill>
                  <a:srgbClr val="0F172A"/>
                </a:solidFill>
                <a:latin typeface="Microsoft YaHei"/>
              </a:rPr>
              <a:t>权限模型</a:t>
            </a:r>
            <a:endParaRPr sz="2000" b="1" dirty="0">
              <a:solidFill>
                <a:srgbClr val="0F172A"/>
              </a:solidFill>
              <a:latin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13816" y="4544568"/>
            <a:ext cx="4535424" cy="112851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600" dirty="0">
                <a:solidFill>
                  <a:srgbClr val="475569"/>
                </a:solidFill>
                <a:latin typeface="Microsoft YaHei"/>
              </a:rPr>
              <a:t>• </a:t>
            </a:r>
            <a:r>
              <a:rPr sz="1600" dirty="0" err="1">
                <a:solidFill>
                  <a:srgbClr val="475569"/>
                </a:solidFill>
                <a:latin typeface="Microsoft YaHei"/>
              </a:rPr>
              <a:t>前端默认使用本地</a:t>
            </a:r>
            <a:r>
              <a:rPr sz="1600" dirty="0">
                <a:solidFill>
                  <a:srgbClr val="475569"/>
                </a:solidFill>
                <a:latin typeface="Microsoft YaHei"/>
              </a:rPr>
              <a:t> </a:t>
            </a:r>
            <a:r>
              <a:rPr sz="1600" dirty="0" err="1">
                <a:solidFill>
                  <a:srgbClr val="475569"/>
                </a:solidFill>
                <a:latin typeface="Microsoft YaHei"/>
              </a:rPr>
              <a:t>token，缺失时回退到硬编码管理员</a:t>
            </a:r>
            <a:r>
              <a:rPr sz="1600" dirty="0">
                <a:solidFill>
                  <a:srgbClr val="475569"/>
                </a:solidFill>
                <a:latin typeface="Microsoft YaHei"/>
              </a:rPr>
              <a:t> token。</a:t>
            </a:r>
          </a:p>
          <a:p>
            <a:pPr>
              <a:spcAft>
                <a:spcPts val="400"/>
              </a:spcAft>
            </a:pPr>
            <a:r>
              <a:rPr sz="1600" dirty="0">
                <a:solidFill>
                  <a:srgbClr val="475569"/>
                </a:solidFill>
                <a:latin typeface="Microsoft YaHei"/>
              </a:rPr>
              <a:t>• </a:t>
            </a:r>
            <a:r>
              <a:rPr sz="1600" dirty="0" err="1">
                <a:solidFill>
                  <a:srgbClr val="475569"/>
                </a:solidFill>
                <a:latin typeface="Microsoft YaHei"/>
              </a:rPr>
              <a:t>后端支持</a:t>
            </a:r>
            <a:r>
              <a:rPr sz="1600" dirty="0">
                <a:solidFill>
                  <a:srgbClr val="475569"/>
                </a:solidFill>
                <a:latin typeface="Microsoft YaHei"/>
              </a:rPr>
              <a:t> JWT </a:t>
            </a:r>
            <a:r>
              <a:rPr sz="1600" dirty="0" err="1">
                <a:solidFill>
                  <a:srgbClr val="475569"/>
                </a:solidFill>
                <a:latin typeface="Microsoft YaHei"/>
              </a:rPr>
              <a:t>或固定</a:t>
            </a:r>
            <a:r>
              <a:rPr sz="1600" dirty="0">
                <a:solidFill>
                  <a:srgbClr val="475569"/>
                </a:solidFill>
                <a:latin typeface="Microsoft YaHei"/>
              </a:rPr>
              <a:t> </a:t>
            </a:r>
            <a:r>
              <a:rPr sz="1600" dirty="0" err="1">
                <a:solidFill>
                  <a:srgbClr val="475569"/>
                </a:solidFill>
                <a:latin typeface="Microsoft YaHei"/>
              </a:rPr>
              <a:t>ADMIN_API_TOKEN，当前不是细粒度</a:t>
            </a:r>
            <a:r>
              <a:rPr sz="1600" dirty="0">
                <a:solidFill>
                  <a:srgbClr val="475569"/>
                </a:solidFill>
                <a:latin typeface="Microsoft YaHei"/>
              </a:rPr>
              <a:t> RBAC。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4069080"/>
            <a:ext cx="50292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23560" y="4069080"/>
            <a:ext cx="128016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43016" y="4178808"/>
            <a:ext cx="12105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 err="1">
                <a:solidFill>
                  <a:srgbClr val="0F172A"/>
                </a:solidFill>
                <a:latin typeface="Microsoft YaHei"/>
              </a:rPr>
              <a:t>系统定位</a:t>
            </a:r>
            <a:endParaRPr sz="2000" b="1" dirty="0">
              <a:solidFill>
                <a:srgbClr val="0F172A"/>
              </a:solidFill>
              <a:latin typeface="Microsoft YaHe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843016" y="4544568"/>
            <a:ext cx="4718304" cy="112851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600" dirty="0">
                <a:solidFill>
                  <a:srgbClr val="475569"/>
                </a:solidFill>
                <a:latin typeface="Microsoft YaHei"/>
              </a:rPr>
              <a:t>• </a:t>
            </a:r>
            <a:r>
              <a:rPr sz="1600" dirty="0" err="1">
                <a:solidFill>
                  <a:srgbClr val="475569"/>
                </a:solidFill>
                <a:latin typeface="Microsoft YaHei"/>
              </a:rPr>
              <a:t>后台更偏演示型运营后台，而非企业级多角色内容平台</a:t>
            </a:r>
            <a:r>
              <a:rPr sz="1600" dirty="0">
                <a:solidFill>
                  <a:srgbClr val="475569"/>
                </a:solidFill>
                <a:latin typeface="Microsoft YaHei"/>
              </a:rPr>
              <a:t>。</a:t>
            </a:r>
          </a:p>
          <a:p>
            <a:pPr>
              <a:spcAft>
                <a:spcPts val="400"/>
              </a:spcAft>
            </a:pPr>
            <a:r>
              <a:rPr sz="1600" dirty="0">
                <a:solidFill>
                  <a:srgbClr val="475569"/>
                </a:solidFill>
                <a:latin typeface="Microsoft YaHei"/>
              </a:rPr>
              <a:t>• </a:t>
            </a:r>
            <a:r>
              <a:rPr sz="1600" dirty="0" err="1">
                <a:solidFill>
                  <a:srgbClr val="475569"/>
                </a:solidFill>
                <a:latin typeface="Microsoft YaHei"/>
              </a:rPr>
              <a:t>它的价值在于支撑</a:t>
            </a:r>
            <a:r>
              <a:rPr sz="1600" dirty="0">
                <a:solidFill>
                  <a:srgbClr val="475569"/>
                </a:solidFill>
                <a:latin typeface="Microsoft YaHei"/>
              </a:rPr>
              <a:t> AI </a:t>
            </a:r>
            <a:r>
              <a:rPr sz="1600" dirty="0" err="1">
                <a:solidFill>
                  <a:srgbClr val="475569"/>
                </a:solidFill>
                <a:latin typeface="Microsoft YaHei"/>
              </a:rPr>
              <a:t>数字人的资料入库和运营分析，而不是复杂业务审批流</a:t>
            </a:r>
            <a:r>
              <a:rPr sz="1600" dirty="0">
                <a:solidFill>
                  <a:srgbClr val="475569"/>
                </a:solidFill>
                <a:latin typeface="Microsoft YaHei"/>
              </a:rPr>
              <a:t>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63550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75569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7D7BCB-C44F-6327-B83C-B89EDF55D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E72802-2252-B6FC-AAC1-15601C6101D6}"/>
              </a:ext>
            </a:extLst>
          </p:cNvPr>
          <p:cNvSpPr txBox="1"/>
          <p:nvPr/>
        </p:nvSpPr>
        <p:spPr>
          <a:xfrm>
            <a:off x="411480" y="201168"/>
            <a:ext cx="363753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0F172A"/>
                </a:solidFill>
                <a:latin typeface="Microsoft YaHei"/>
              </a:rPr>
              <a:t>9. </a:t>
            </a:r>
            <a:r>
              <a:rPr sz="2400" b="1" dirty="0" err="1">
                <a:solidFill>
                  <a:srgbClr val="0F172A"/>
                </a:solidFill>
                <a:latin typeface="Microsoft YaHei"/>
              </a:rPr>
              <a:t>管理后台模块</a:t>
            </a:r>
            <a:r>
              <a:rPr lang="zh-CN" altLang="en-US" sz="2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效果展示</a:t>
            </a:r>
            <a:endParaRPr sz="2400" b="1" dirty="0">
              <a:solidFill>
                <a:srgbClr val="0F172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DF7C45-0868-3A5D-595E-0CE63D585D48}"/>
              </a:ext>
            </a:extLst>
          </p:cNvPr>
          <p:cNvSpPr/>
          <p:nvPr/>
        </p:nvSpPr>
        <p:spPr>
          <a:xfrm>
            <a:off x="411480" y="987552"/>
            <a:ext cx="10972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3F6095-CB80-A5C3-33E5-37E3E91393E4}"/>
              </a:ext>
            </a:extLst>
          </p:cNvPr>
          <p:cNvSpPr txBox="1"/>
          <p:nvPr/>
        </p:nvSpPr>
        <p:spPr>
          <a:xfrm>
            <a:off x="10378440" y="63550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75569"/>
                </a:solidFill>
                <a:latin typeface="Microsoft YaHei"/>
              </a:rPr>
              <a:t>10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C35CCFC-30F3-C8A3-44EB-83A82D481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97" y="1499050"/>
            <a:ext cx="9049379" cy="5395525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61F1E9CB-AFD2-279D-6C72-0D88D576DB7A}"/>
              </a:ext>
            </a:extLst>
          </p:cNvPr>
          <p:cNvSpPr txBox="1"/>
          <p:nvPr/>
        </p:nvSpPr>
        <p:spPr>
          <a:xfrm>
            <a:off x="466418" y="1076923"/>
            <a:ext cx="2849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整体展示：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92F7620-4B9F-9221-0FAD-DA7E3F069500}"/>
              </a:ext>
            </a:extLst>
          </p:cNvPr>
          <p:cNvSpPr txBox="1"/>
          <p:nvPr/>
        </p:nvSpPr>
        <p:spPr>
          <a:xfrm>
            <a:off x="9309261" y="1897884"/>
            <a:ext cx="275924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提供历史使用统计，适合在景区大屏、自助机或浏览器中展示。智能统计每日游客量。</a:t>
            </a:r>
            <a:endParaRPr lang="en-US" altLang="zh-CN" dirty="0"/>
          </a:p>
          <a:p>
            <a:r>
              <a:rPr lang="zh-CN" altLang="en-US" dirty="0"/>
              <a:t>同时曲线图完美展示了游客近期的游览意向，知道工作人员及时做出行动应对游客量趋势变化。</a:t>
            </a:r>
            <a:endParaRPr lang="en-US" altLang="zh-CN" dirty="0"/>
          </a:p>
          <a:p>
            <a:r>
              <a:rPr lang="zh-CN" altLang="en-US" dirty="0"/>
              <a:t>同时提供</a:t>
            </a:r>
            <a:r>
              <a:rPr lang="en-US" altLang="zh-CN" dirty="0"/>
              <a:t>top-5</a:t>
            </a:r>
            <a:r>
              <a:rPr lang="zh-CN" altLang="en-US" dirty="0"/>
              <a:t>问题，方便游客查看。</a:t>
            </a:r>
          </a:p>
        </p:txBody>
      </p:sp>
    </p:spTree>
    <p:extLst>
      <p:ext uri="{BB962C8B-B14F-4D97-AF65-F5344CB8AC3E}">
        <p14:creationId xmlns:p14="http://schemas.microsoft.com/office/powerpoint/2010/main" val="3313879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2942B-431D-38ED-A131-23A0ED678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655972-66F1-003E-7293-B68A41B217F6}"/>
              </a:ext>
            </a:extLst>
          </p:cNvPr>
          <p:cNvSpPr txBox="1"/>
          <p:nvPr/>
        </p:nvSpPr>
        <p:spPr>
          <a:xfrm>
            <a:off x="411480" y="201168"/>
            <a:ext cx="363753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0F172A"/>
                </a:solidFill>
                <a:latin typeface="Microsoft YaHei"/>
              </a:rPr>
              <a:t>9. </a:t>
            </a:r>
            <a:r>
              <a:rPr sz="2400" b="1" dirty="0" err="1">
                <a:solidFill>
                  <a:srgbClr val="0F172A"/>
                </a:solidFill>
                <a:latin typeface="Microsoft YaHei"/>
              </a:rPr>
              <a:t>管理后台模块</a:t>
            </a:r>
            <a:r>
              <a:rPr lang="zh-CN" altLang="en-US" sz="2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效果展示</a:t>
            </a:r>
            <a:endParaRPr sz="2400" b="1" dirty="0">
              <a:solidFill>
                <a:srgbClr val="0F172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F6F271-8437-DF0A-FD5F-EEF69358CA0E}"/>
              </a:ext>
            </a:extLst>
          </p:cNvPr>
          <p:cNvSpPr/>
          <p:nvPr/>
        </p:nvSpPr>
        <p:spPr>
          <a:xfrm>
            <a:off x="411480" y="987552"/>
            <a:ext cx="10972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A91502-F1D1-101B-3DEC-456FEF4807C6}"/>
              </a:ext>
            </a:extLst>
          </p:cNvPr>
          <p:cNvSpPr txBox="1"/>
          <p:nvPr/>
        </p:nvSpPr>
        <p:spPr>
          <a:xfrm>
            <a:off x="10378440" y="63550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75569"/>
                </a:solidFill>
                <a:latin typeface="Microsoft YaHei"/>
              </a:rPr>
              <a:t>10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3379AD8-D2C2-54CA-CA80-F937CAFCCED9}"/>
              </a:ext>
            </a:extLst>
          </p:cNvPr>
          <p:cNvSpPr txBox="1"/>
          <p:nvPr/>
        </p:nvSpPr>
        <p:spPr>
          <a:xfrm>
            <a:off x="466418" y="1076923"/>
            <a:ext cx="2849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整体展示：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321E53C-F10B-C780-C729-408991CF45A8}"/>
              </a:ext>
            </a:extLst>
          </p:cNvPr>
          <p:cNvSpPr txBox="1"/>
          <p:nvPr/>
        </p:nvSpPr>
        <p:spPr>
          <a:xfrm>
            <a:off x="9100075" y="2121620"/>
            <a:ext cx="27592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提供游客使用后感受度分析，便于工作人员针对游客的情绪来及时对模型效果进行优化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165F92C-1463-DBB5-3016-5B77D2849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874" y="1499050"/>
            <a:ext cx="8479221" cy="5038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8836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4AE77-C4BF-7DD3-321D-8C8CEE563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C8EA68-9135-94FD-6428-5BD74857902D}"/>
              </a:ext>
            </a:extLst>
          </p:cNvPr>
          <p:cNvSpPr txBox="1"/>
          <p:nvPr/>
        </p:nvSpPr>
        <p:spPr>
          <a:xfrm>
            <a:off x="411480" y="201168"/>
            <a:ext cx="363753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0F172A"/>
                </a:solidFill>
                <a:latin typeface="Microsoft YaHei"/>
              </a:rPr>
              <a:t>9. </a:t>
            </a:r>
            <a:r>
              <a:rPr sz="2400" b="1" dirty="0" err="1">
                <a:solidFill>
                  <a:srgbClr val="0F172A"/>
                </a:solidFill>
                <a:latin typeface="Microsoft YaHei"/>
              </a:rPr>
              <a:t>管理后台模块</a:t>
            </a:r>
            <a:r>
              <a:rPr lang="zh-CN" altLang="en-US" sz="2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效果展示</a:t>
            </a:r>
            <a:endParaRPr sz="2400" b="1" dirty="0">
              <a:solidFill>
                <a:srgbClr val="0F172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2CA84C-C0B9-B55E-AC03-ED1BAA4565DD}"/>
              </a:ext>
            </a:extLst>
          </p:cNvPr>
          <p:cNvSpPr/>
          <p:nvPr/>
        </p:nvSpPr>
        <p:spPr>
          <a:xfrm>
            <a:off x="411480" y="987552"/>
            <a:ext cx="10972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AA4114-AD6A-AF10-A7AD-6EC245844C5F}"/>
              </a:ext>
            </a:extLst>
          </p:cNvPr>
          <p:cNvSpPr txBox="1"/>
          <p:nvPr/>
        </p:nvSpPr>
        <p:spPr>
          <a:xfrm>
            <a:off x="10378440" y="63550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75569"/>
                </a:solidFill>
                <a:latin typeface="Microsoft YaHei"/>
              </a:rPr>
              <a:t>10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D73D2D4-5D1E-9B20-55C7-E6E4E22BE97D}"/>
              </a:ext>
            </a:extLst>
          </p:cNvPr>
          <p:cNvSpPr txBox="1"/>
          <p:nvPr/>
        </p:nvSpPr>
        <p:spPr>
          <a:xfrm>
            <a:off x="466418" y="1076923"/>
            <a:ext cx="2849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整体展示：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98A3361-EC76-BA11-76FD-A2E956879A19}"/>
              </a:ext>
            </a:extLst>
          </p:cNvPr>
          <p:cNvSpPr txBox="1"/>
          <p:nvPr/>
        </p:nvSpPr>
        <p:spPr>
          <a:xfrm>
            <a:off x="9100075" y="2121620"/>
            <a:ext cx="275924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采用了 </a:t>
            </a:r>
            <a:r>
              <a:rPr lang="en-US" altLang="zh-CN" dirty="0"/>
              <a:t>RAG </a:t>
            </a:r>
            <a:r>
              <a:rPr lang="zh-CN" altLang="en-US" dirty="0"/>
              <a:t>思路</a:t>
            </a:r>
          </a:p>
          <a:p>
            <a:r>
              <a:rPr lang="zh-CN" altLang="en-US" dirty="0"/>
              <a:t>        检索增强生成。系统不是让大模型随意编，而是先从景区资料中找证据，再组织回答，提高准确性。</a:t>
            </a:r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zh-CN" altLang="en-US" dirty="0"/>
              <a:t>项目还提供管理后台入口，方便后续维护资料、查看数据和扩展更多景区内容。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89B3A-3BB9-8D92-5B93-40D606B0C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745" y="1533180"/>
            <a:ext cx="8633373" cy="5123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4889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Microsoft YaHei"/>
              </a:rPr>
              <a:t>10. 数据模型与持久化设计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475569"/>
                </a:solidFill>
                <a:latin typeface="Microsoft YaHei"/>
              </a:rPr>
              <a:t>结构化库负责元数据与日志，向量库负责语义检索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87552"/>
            <a:ext cx="10972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379669"/>
              </p:ext>
            </p:extLst>
          </p:nvPr>
        </p:nvGraphicFramePr>
        <p:xfrm>
          <a:off x="594360" y="1325880"/>
          <a:ext cx="9144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23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</a:rPr>
                        <a:t>数据对象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</a:rPr>
                        <a:t>关键字段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</a:rPr>
                        <a:t>用途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</a:rPr>
                        <a:t>存储位置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23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F172A"/>
                          </a:solidFill>
                          <a:latin typeface="Microsoft YaHei"/>
                        </a:rPr>
                        <a:t>KnowledgeDocument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475569"/>
                          </a:solidFill>
                          <a:latin typeface="Microsoft YaHei"/>
                        </a:rPr>
                        <a:t>doc_id / title / category / status / progress / chunk_count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475569"/>
                          </a:solidFill>
                          <a:latin typeface="Microsoft YaHei"/>
                        </a:rPr>
                        <a:t>追踪知识文档入库进度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475569"/>
                          </a:solidFill>
                          <a:latin typeface="Microsoft YaHei"/>
                        </a:rPr>
                        <a:t>SQLite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23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F172A"/>
                          </a:solidFill>
                          <a:latin typeface="Microsoft YaHei"/>
                        </a:rPr>
                        <a:t>ChatSession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475569"/>
                          </a:solidFill>
                          <a:latin typeface="Microsoft YaHei"/>
                        </a:rPr>
                        <a:t>session_id / preference / created_at / updated_at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475569"/>
                          </a:solidFill>
                          <a:latin typeface="Microsoft YaHei"/>
                        </a:rPr>
                        <a:t>记录会话级信息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475569"/>
                          </a:solidFill>
                          <a:latin typeface="Microsoft YaHei"/>
                        </a:rPr>
                        <a:t>SQLite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23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F172A"/>
                          </a:solidFill>
                          <a:latin typeface="Microsoft YaHei"/>
                        </a:rPr>
                        <a:t>ChatMessage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475569"/>
                          </a:solidFill>
                          <a:latin typeface="Microsoft YaHei"/>
                        </a:rPr>
                        <a:t>session_id / user_text / assistant_text / sentiment / confidence /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475569"/>
                          </a:solidFill>
                          <a:latin typeface="Microsoft YaHei"/>
                        </a:rPr>
                        <a:t>支撑日志分析与热点统计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475569"/>
                          </a:solidFill>
                          <a:latin typeface="Microsoft YaHei"/>
                        </a:rPr>
                        <a:t>SQLite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23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F172A"/>
                          </a:solidFill>
                          <a:latin typeface="Microsoft YaHei"/>
                        </a:rPr>
                        <a:t>向量块元数据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475569"/>
                          </a:solidFill>
                          <a:latin typeface="Microsoft YaHei"/>
                        </a:rPr>
                        <a:t>doc_id / title / source_file / chunk_index / scenic_area_id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475569"/>
                          </a:solidFill>
                          <a:latin typeface="Microsoft YaHei"/>
                        </a:rPr>
                        <a:t>支撑 Chroma 检索与来源展示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475569"/>
                          </a:solidFill>
                          <a:latin typeface="Microsoft YaHei"/>
                        </a:rPr>
                        <a:t>Chroma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423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F172A"/>
                          </a:solidFill>
                          <a:latin typeface="Microsoft YaHei"/>
                        </a:rPr>
                        <a:t>会话缓存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475569"/>
                          </a:solidFill>
                          <a:latin typeface="Microsoft YaHei"/>
                        </a:rPr>
                        <a:t>最近轮次历史对话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475569"/>
                          </a:solidFill>
                          <a:latin typeface="Microsoft YaHei"/>
                        </a:rPr>
                        <a:t>提高多轮问答读取效率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dirty="0">
                          <a:solidFill>
                            <a:srgbClr val="475569"/>
                          </a:solidFill>
                          <a:latin typeface="Microsoft YaHei"/>
                        </a:rPr>
                        <a:t>Redis </a:t>
                      </a:r>
                      <a:r>
                        <a:rPr sz="1800" dirty="0" err="1">
                          <a:solidFill>
                            <a:srgbClr val="475569"/>
                          </a:solidFill>
                          <a:latin typeface="Microsoft YaHei"/>
                        </a:rPr>
                        <a:t>或内存</a:t>
                      </a:r>
                      <a:endParaRPr sz="1800" dirty="0">
                        <a:solidFill>
                          <a:srgbClr val="475569"/>
                        </a:solidFill>
                        <a:latin typeface="Microsoft YaHe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5943600"/>
            <a:ext cx="974144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 err="1">
                <a:solidFill>
                  <a:srgbClr val="475569"/>
                </a:solidFill>
                <a:latin typeface="Microsoft YaHei"/>
              </a:rPr>
              <a:t>当前方案对演示非常友好；若面向真实景区长期运营，SQLite</a:t>
            </a:r>
            <a:r>
              <a:rPr dirty="0">
                <a:solidFill>
                  <a:srgbClr val="475569"/>
                </a:solidFill>
                <a:latin typeface="Microsoft YaHei"/>
              </a:rPr>
              <a:t>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与本地向量库会成为扩展瓶颈</a:t>
            </a:r>
            <a:r>
              <a:rPr dirty="0">
                <a:solidFill>
                  <a:srgbClr val="475569"/>
                </a:solidFill>
                <a:latin typeface="Microsoft YaHei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78440" y="63550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75569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Microsoft YaHei"/>
              </a:rPr>
              <a:t>11. 主要 API 模块与交互契约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475569"/>
                </a:solidFill>
                <a:latin typeface="Microsoft YaHei"/>
              </a:rPr>
              <a:t>接口设计围绕游客主链路与后台管理两条线展开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87552"/>
            <a:ext cx="10972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408314"/>
              </p:ext>
            </p:extLst>
          </p:nvPr>
        </p:nvGraphicFramePr>
        <p:xfrm>
          <a:off x="594360" y="1325880"/>
          <a:ext cx="100584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</a:rPr>
                        <a:t>模块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</a:rPr>
                        <a:t>代表接口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</a:rPr>
                        <a:t>输入输出重点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</a:rPr>
                        <a:t>业务意义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F172A"/>
                          </a:solidFill>
                          <a:latin typeface="Microsoft YaHei"/>
                        </a:rPr>
                        <a:t>问答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475569"/>
                          </a:solidFill>
                          <a:latin typeface="Microsoft YaHei"/>
                        </a:rPr>
                        <a:t>POST /api/v1/chat/ask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475569"/>
                          </a:solidFill>
                          <a:latin typeface="Microsoft YaHei"/>
                        </a:rPr>
                        <a:t>输入 sessionId/text/preference，输出 answerText/sources/tts/avatar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475569"/>
                          </a:solidFill>
                          <a:latin typeface="Microsoft YaHei"/>
                        </a:rPr>
                        <a:t>系统主价值接口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F172A"/>
                          </a:solidFill>
                          <a:latin typeface="Microsoft YaHei"/>
                        </a:rPr>
                        <a:t>ASR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475569"/>
                          </a:solidFill>
                          <a:latin typeface="Microsoft YaHei"/>
                        </a:rPr>
                        <a:t>POST /api/v1/asr/recognize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475569"/>
                          </a:solidFill>
                          <a:latin typeface="Microsoft YaHei"/>
                        </a:rPr>
                        <a:t>上传 WAV，返回文本、置信度、时长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475569"/>
                          </a:solidFill>
                          <a:latin typeface="Microsoft YaHei"/>
                        </a:rPr>
                        <a:t>语音输入入口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F172A"/>
                          </a:solidFill>
                          <a:latin typeface="Microsoft YaHei"/>
                        </a:rPr>
                        <a:t>TTS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475569"/>
                          </a:solidFill>
                          <a:latin typeface="Microsoft YaHei"/>
                        </a:rPr>
                        <a:t>POST /api/v1/tts/synthesize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475569"/>
                          </a:solidFill>
                          <a:latin typeface="Microsoft YaHei"/>
                        </a:rPr>
                        <a:t>输出音频地址、时长、音素信息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475569"/>
                          </a:solidFill>
                          <a:latin typeface="Microsoft YaHei"/>
                        </a:rPr>
                        <a:t>数字人音频驱动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F172A"/>
                          </a:solidFill>
                          <a:latin typeface="Microsoft YaHei"/>
                        </a:rPr>
                        <a:t>推荐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475569"/>
                          </a:solidFill>
                          <a:latin typeface="Microsoft YaHei"/>
                        </a:rPr>
                        <a:t>GET|POST /api/v1/recommend/routes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475569"/>
                          </a:solidFill>
                          <a:latin typeface="Microsoft YaHei"/>
                        </a:rPr>
                        <a:t>输出路线列表、兴趣标签、地图要素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475569"/>
                          </a:solidFill>
                          <a:latin typeface="Microsoft YaHei"/>
                        </a:rPr>
                        <a:t>个性化导览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F172A"/>
                          </a:solidFill>
                          <a:latin typeface="Microsoft YaHei"/>
                        </a:rPr>
                        <a:t>后台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475569"/>
                          </a:solidFill>
                          <a:latin typeface="Microsoft YaHei"/>
                        </a:rPr>
                        <a:t>/api/v1/admin/*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475569"/>
                          </a:solidFill>
                          <a:latin typeface="Microsoft YaHei"/>
                        </a:rPr>
                        <a:t>上传知识、查看大屏、分析情感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475569"/>
                          </a:solidFill>
                          <a:latin typeface="Microsoft YaHei"/>
                        </a:rPr>
                        <a:t>运营闭环支撑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F172A"/>
                          </a:solidFill>
                          <a:latin typeface="Microsoft YaHei"/>
                        </a:rPr>
                        <a:t>数字人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475569"/>
                          </a:solidFill>
                          <a:latin typeface="Microsoft YaHei"/>
                        </a:rPr>
                        <a:t>/api/v1/avatar/*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475569"/>
                          </a:solidFill>
                          <a:latin typeface="Microsoft YaHei"/>
                        </a:rPr>
                        <a:t>拉配置、生成视频、转发代理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dirty="0" err="1">
                          <a:solidFill>
                            <a:srgbClr val="475569"/>
                          </a:solidFill>
                          <a:latin typeface="Microsoft YaHei"/>
                        </a:rPr>
                        <a:t>呈现层联动</a:t>
                      </a:r>
                      <a:endParaRPr sz="1800" dirty="0">
                        <a:solidFill>
                          <a:srgbClr val="475569"/>
                        </a:solidFill>
                        <a:latin typeface="Microsoft YaHe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378440" y="63550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75569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Microsoft YaHei"/>
              </a:rPr>
              <a:t>12. 运营分析与价值闭环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475569"/>
                </a:solidFill>
                <a:latin typeface="Microsoft YaHei"/>
              </a:rPr>
              <a:t>系统不仅能回答问题，还能把交互沉淀为可运营的数据资产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87552"/>
            <a:ext cx="10972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48920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128016" cy="4297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3816" y="1435608"/>
            <a:ext cx="12105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 err="1">
                <a:solidFill>
                  <a:srgbClr val="0F172A"/>
                </a:solidFill>
                <a:latin typeface="Microsoft YaHei"/>
              </a:rPr>
              <a:t>统计逻辑</a:t>
            </a:r>
            <a:endParaRPr sz="2000" b="1" dirty="0">
              <a:solidFill>
                <a:srgbClr val="0F172A"/>
              </a:solidFill>
              <a:latin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13816" y="1801368"/>
            <a:ext cx="4581144" cy="185691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dirty="0">
                <a:solidFill>
                  <a:srgbClr val="475569"/>
                </a:solidFill>
                <a:latin typeface="Microsoft YaHei"/>
              </a:rPr>
              <a:t>•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AnalyticsService</a:t>
            </a:r>
            <a:r>
              <a:rPr dirty="0">
                <a:solidFill>
                  <a:srgbClr val="475569"/>
                </a:solidFill>
                <a:latin typeface="Microsoft YaHei"/>
              </a:rPr>
              <a:t>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会聚合今日会话数、消息数、热门问题、情感趋势和热点词云</a:t>
            </a:r>
            <a:r>
              <a:rPr dirty="0">
                <a:solidFill>
                  <a:srgbClr val="475569"/>
                </a:solidFill>
                <a:latin typeface="Microsoft YaHei"/>
              </a:rPr>
              <a:t>。</a:t>
            </a:r>
          </a:p>
          <a:p>
            <a:pPr>
              <a:spcAft>
                <a:spcPts val="400"/>
              </a:spcAft>
            </a:pPr>
            <a:r>
              <a:rPr dirty="0">
                <a:solidFill>
                  <a:srgbClr val="475569"/>
                </a:solidFill>
                <a:latin typeface="Microsoft YaHei"/>
              </a:rPr>
              <a:t>•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词云不是简单分词，而是结合中文</a:t>
            </a:r>
            <a:r>
              <a:rPr dirty="0">
                <a:solidFill>
                  <a:srgbClr val="475569"/>
                </a:solidFill>
                <a:latin typeface="Microsoft YaHei"/>
              </a:rPr>
              <a:t> 2~4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字短语与景区领域关键词加权</a:t>
            </a:r>
            <a:r>
              <a:rPr dirty="0">
                <a:solidFill>
                  <a:srgbClr val="475569"/>
                </a:solidFill>
                <a:latin typeface="Microsoft YaHei"/>
              </a:rPr>
              <a:t>。</a:t>
            </a:r>
          </a:p>
          <a:p>
            <a:pPr>
              <a:spcAft>
                <a:spcPts val="400"/>
              </a:spcAft>
            </a:pPr>
            <a:r>
              <a:rPr dirty="0">
                <a:solidFill>
                  <a:srgbClr val="475569"/>
                </a:solidFill>
                <a:latin typeface="Microsoft YaHei"/>
              </a:rPr>
              <a:t>•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无真实数据时会生成保底结果，保证演示页面不空白</a:t>
            </a:r>
            <a:r>
              <a:rPr dirty="0">
                <a:solidFill>
                  <a:srgbClr val="475569"/>
                </a:solidFill>
                <a:latin typeface="Microsoft YaHei"/>
              </a:rPr>
              <a:t>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325880"/>
            <a:ext cx="49834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0" y="1325880"/>
            <a:ext cx="128016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88736" y="1435608"/>
            <a:ext cx="12105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 err="1">
                <a:solidFill>
                  <a:srgbClr val="0F172A"/>
                </a:solidFill>
                <a:latin typeface="Microsoft YaHei"/>
              </a:rPr>
              <a:t>业务意义</a:t>
            </a:r>
            <a:endParaRPr sz="2000" b="1" dirty="0">
              <a:solidFill>
                <a:srgbClr val="0F172A"/>
              </a:solidFill>
              <a:latin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888736" y="1801368"/>
            <a:ext cx="4672584" cy="185691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dirty="0">
                <a:solidFill>
                  <a:srgbClr val="475569"/>
                </a:solidFill>
                <a:latin typeface="Microsoft YaHei"/>
              </a:rPr>
              <a:t>•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帮助景区发现游客最关注的问题，如门票、路线、开放时间、历史文化等</a:t>
            </a:r>
            <a:r>
              <a:rPr dirty="0">
                <a:solidFill>
                  <a:srgbClr val="475569"/>
                </a:solidFill>
                <a:latin typeface="Microsoft YaHei"/>
              </a:rPr>
              <a:t>。</a:t>
            </a:r>
          </a:p>
          <a:p>
            <a:pPr>
              <a:spcAft>
                <a:spcPts val="400"/>
              </a:spcAft>
            </a:pPr>
            <a:r>
              <a:rPr dirty="0">
                <a:solidFill>
                  <a:srgbClr val="475569"/>
                </a:solidFill>
                <a:latin typeface="Microsoft YaHei"/>
              </a:rPr>
              <a:t>•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通过情感占比可判断讲解体验与服务满意度走势</a:t>
            </a:r>
            <a:r>
              <a:rPr dirty="0">
                <a:solidFill>
                  <a:srgbClr val="475569"/>
                </a:solidFill>
                <a:latin typeface="Microsoft YaHei"/>
              </a:rPr>
              <a:t>。</a:t>
            </a:r>
          </a:p>
          <a:p>
            <a:pPr>
              <a:spcAft>
                <a:spcPts val="400"/>
              </a:spcAft>
            </a:pPr>
            <a:r>
              <a:rPr dirty="0">
                <a:solidFill>
                  <a:srgbClr val="475569"/>
                </a:solidFill>
                <a:latin typeface="Microsoft YaHei"/>
              </a:rPr>
              <a:t>•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后台由此形成“交互</a:t>
            </a:r>
            <a:r>
              <a:rPr dirty="0">
                <a:solidFill>
                  <a:srgbClr val="475569"/>
                </a:solidFill>
                <a:latin typeface="Microsoft YaHei"/>
              </a:rPr>
              <a:t> -&gt;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数据沉淀</a:t>
            </a:r>
            <a:r>
              <a:rPr dirty="0">
                <a:solidFill>
                  <a:srgbClr val="475569"/>
                </a:solidFill>
                <a:latin typeface="Microsoft YaHei"/>
              </a:rPr>
              <a:t> -&gt;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运营反馈</a:t>
            </a:r>
            <a:r>
              <a:rPr dirty="0">
                <a:solidFill>
                  <a:srgbClr val="475569"/>
                </a:solidFill>
                <a:latin typeface="Microsoft YaHei"/>
              </a:rPr>
              <a:t> -&gt;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知识更新”的闭环</a:t>
            </a:r>
            <a:r>
              <a:rPr dirty="0">
                <a:solidFill>
                  <a:srgbClr val="475569"/>
                </a:solidFill>
                <a:latin typeface="Microsoft YaHei"/>
              </a:rPr>
              <a:t>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78440" y="63550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75569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Microsoft YaHei"/>
              </a:rPr>
              <a:t>13. 设计规格与当前实现对照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475569"/>
                </a:solidFill>
                <a:latin typeface="Microsoft YaHei"/>
              </a:rPr>
              <a:t>项目既有功能规格说明书，也有已经落地的当前版本代码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87552"/>
            <a:ext cx="10972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391422"/>
              </p:ext>
            </p:extLst>
          </p:nvPr>
        </p:nvGraphicFramePr>
        <p:xfrm>
          <a:off x="594360" y="1325880"/>
          <a:ext cx="100584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23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</a:rPr>
                        <a:t>能力项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</a:rPr>
                        <a:t>规格设想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</a:rPr>
                        <a:t>当前实现状态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</a:rPr>
                        <a:t>评价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23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F172A"/>
                          </a:solidFill>
                          <a:latin typeface="Microsoft YaHei"/>
                        </a:rPr>
                        <a:t>数字人展示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475569"/>
                          </a:solidFill>
                          <a:latin typeface="Microsoft YaHei"/>
                        </a:rPr>
                        <a:t>Live2D/口型同步/表情切换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475569"/>
                          </a:solidFill>
                          <a:latin typeface="Microsoft YaHei"/>
                        </a:rPr>
                        <a:t>已落地讯飞视频链路，同时保留 Live2D 备用实现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475569"/>
                          </a:solidFill>
                          <a:latin typeface="Microsoft YaHei"/>
                        </a:rPr>
                        <a:t>展示效果优先，工程统一性一般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23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F172A"/>
                          </a:solidFill>
                          <a:latin typeface="Microsoft YaHei"/>
                        </a:rPr>
                        <a:t>多模态输入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475569"/>
                          </a:solidFill>
                          <a:latin typeface="Microsoft YaHei"/>
                        </a:rPr>
                        <a:t>文本 + 语音 + 流式 ASR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475569"/>
                          </a:solidFill>
                          <a:latin typeface="Microsoft YaHei"/>
                        </a:rPr>
                        <a:t>文本与按住说话已实现，流式 ASR 尚未落地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475569"/>
                          </a:solidFill>
                          <a:latin typeface="Microsoft YaHei"/>
                        </a:rPr>
                        <a:t>MVP 完成度较高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23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F172A"/>
                          </a:solidFill>
                          <a:latin typeface="Microsoft YaHei"/>
                        </a:rPr>
                        <a:t>RAG 问答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475569"/>
                          </a:solidFill>
                          <a:latin typeface="Microsoft YaHei"/>
                        </a:rPr>
                        <a:t>基于官方资料包的准确问答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475569"/>
                          </a:solidFill>
                          <a:latin typeface="Microsoft YaHei"/>
                        </a:rPr>
                        <a:t>文档解析、Chroma 检索、Prompt 构造已形成闭环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475569"/>
                          </a:solidFill>
                          <a:latin typeface="Microsoft YaHei"/>
                        </a:rPr>
                        <a:t>系统核心亮点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23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F172A"/>
                          </a:solidFill>
                          <a:latin typeface="Microsoft YaHei"/>
                        </a:rPr>
                        <a:t>推荐系统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475569"/>
                          </a:solidFill>
                          <a:latin typeface="Microsoft YaHei"/>
                        </a:rPr>
                        <a:t>兴趣偏好 + 路线推荐 + 地图可视化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475569"/>
                          </a:solidFill>
                          <a:latin typeface="Microsoft YaHei"/>
                        </a:rPr>
                        <a:t>已实现路线推荐接口和前端弹窗地图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475569"/>
                          </a:solidFill>
                          <a:latin typeface="Microsoft YaHei"/>
                        </a:rPr>
                        <a:t>功能完整但算法偏规则化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423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F172A"/>
                          </a:solidFill>
                          <a:latin typeface="Microsoft YaHei"/>
                        </a:rPr>
                        <a:t>后台分析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475569"/>
                          </a:solidFill>
                          <a:latin typeface="Microsoft YaHei"/>
                        </a:rPr>
                        <a:t>热点、情感、建议、导出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475569"/>
                          </a:solidFill>
                          <a:latin typeface="Microsoft YaHei"/>
                        </a:rPr>
                        <a:t>热点和情感已实现，导出和建议未完全落地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dirty="0" err="1">
                          <a:solidFill>
                            <a:srgbClr val="475569"/>
                          </a:solidFill>
                          <a:latin typeface="Microsoft YaHei"/>
                        </a:rPr>
                        <a:t>演示性强于企业化</a:t>
                      </a:r>
                      <a:endParaRPr sz="1800" dirty="0">
                        <a:solidFill>
                          <a:srgbClr val="475569"/>
                        </a:solidFill>
                        <a:latin typeface="Microsoft YaHe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378440" y="63550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75569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Microsoft YaHei"/>
              </a:rPr>
              <a:t>14. 当前系统优势与风险点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475569"/>
                </a:solidFill>
                <a:latin typeface="Microsoft YaHei"/>
              </a:rPr>
              <a:t>汇报中既要讲能力，也要讲边界，体现分析深度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87552"/>
            <a:ext cx="10972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48920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128016" cy="4480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3816" y="1435608"/>
            <a:ext cx="69762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 err="1">
                <a:solidFill>
                  <a:srgbClr val="0F172A"/>
                </a:solidFill>
                <a:latin typeface="Microsoft YaHei"/>
              </a:rPr>
              <a:t>优势</a:t>
            </a:r>
            <a:endParaRPr sz="2000" b="1" dirty="0">
              <a:solidFill>
                <a:srgbClr val="0F172A"/>
              </a:solidFill>
              <a:latin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13816" y="1801368"/>
            <a:ext cx="4581144" cy="246221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dirty="0">
                <a:solidFill>
                  <a:srgbClr val="475569"/>
                </a:solidFill>
                <a:latin typeface="Microsoft YaHei"/>
              </a:rPr>
              <a:t>•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端到端链路完整：资料导入、语音问答、数字人播放、后台统计全部打通</a:t>
            </a:r>
            <a:r>
              <a:rPr dirty="0">
                <a:solidFill>
                  <a:srgbClr val="475569"/>
                </a:solidFill>
                <a:latin typeface="Microsoft YaHei"/>
              </a:rPr>
              <a:t>。</a:t>
            </a:r>
          </a:p>
          <a:p>
            <a:pPr>
              <a:spcAft>
                <a:spcPts val="400"/>
              </a:spcAft>
            </a:pPr>
            <a:r>
              <a:rPr dirty="0">
                <a:solidFill>
                  <a:srgbClr val="475569"/>
                </a:solidFill>
                <a:latin typeface="Microsoft YaHei"/>
              </a:rPr>
              <a:t>•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技术选型务实：FastAPI</a:t>
            </a:r>
            <a:r>
              <a:rPr dirty="0">
                <a:solidFill>
                  <a:srgbClr val="475569"/>
                </a:solidFill>
                <a:latin typeface="Microsoft YaHei"/>
              </a:rPr>
              <a:t> + Chroma + Edge-TTS + Vue/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React，便于快速集成</a:t>
            </a:r>
            <a:r>
              <a:rPr dirty="0">
                <a:solidFill>
                  <a:srgbClr val="475569"/>
                </a:solidFill>
                <a:latin typeface="Microsoft YaHei"/>
              </a:rPr>
              <a:t>。</a:t>
            </a:r>
          </a:p>
          <a:p>
            <a:pPr>
              <a:spcAft>
                <a:spcPts val="400"/>
              </a:spcAft>
            </a:pPr>
            <a:r>
              <a:rPr dirty="0">
                <a:solidFill>
                  <a:srgbClr val="475569"/>
                </a:solidFill>
                <a:latin typeface="Microsoft YaHei"/>
              </a:rPr>
              <a:t>•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结构清晰：API、服务层、模型层职责明确，可替换不同</a:t>
            </a:r>
            <a:r>
              <a:rPr dirty="0">
                <a:solidFill>
                  <a:srgbClr val="475569"/>
                </a:solidFill>
                <a:latin typeface="Microsoft YaHei"/>
              </a:rPr>
              <a:t> LLM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与数字人实现</a:t>
            </a:r>
            <a:r>
              <a:rPr dirty="0">
                <a:solidFill>
                  <a:srgbClr val="475569"/>
                </a:solidFill>
                <a:latin typeface="Microsoft YaHei"/>
              </a:rPr>
              <a:t>。</a:t>
            </a:r>
          </a:p>
          <a:p>
            <a:pPr>
              <a:spcAft>
                <a:spcPts val="400"/>
              </a:spcAft>
            </a:pPr>
            <a:r>
              <a:rPr dirty="0">
                <a:solidFill>
                  <a:srgbClr val="475569"/>
                </a:solidFill>
                <a:latin typeface="Microsoft YaHei"/>
              </a:rPr>
              <a:t>•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演示友好：默认有</a:t>
            </a:r>
            <a:r>
              <a:rPr dirty="0">
                <a:solidFill>
                  <a:srgbClr val="475569"/>
                </a:solidFill>
                <a:latin typeface="Microsoft YaHei"/>
              </a:rPr>
              <a:t> mock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路径与静态兜底，降低现场失败概率</a:t>
            </a:r>
            <a:r>
              <a:rPr dirty="0">
                <a:solidFill>
                  <a:srgbClr val="475569"/>
                </a:solidFill>
                <a:latin typeface="Microsoft YaHei"/>
              </a:rPr>
              <a:t>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325880"/>
            <a:ext cx="49834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0" y="1325880"/>
            <a:ext cx="128016" cy="44805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88736" y="1435608"/>
            <a:ext cx="198002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 err="1">
                <a:solidFill>
                  <a:srgbClr val="0F172A"/>
                </a:solidFill>
                <a:latin typeface="Microsoft YaHei"/>
              </a:rPr>
              <a:t>风险与改进方向</a:t>
            </a:r>
            <a:endParaRPr sz="2000" b="1" dirty="0">
              <a:solidFill>
                <a:srgbClr val="0F172A"/>
              </a:solidFill>
              <a:latin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888736" y="1801368"/>
            <a:ext cx="4672584" cy="246221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dirty="0">
                <a:solidFill>
                  <a:srgbClr val="475569"/>
                </a:solidFill>
                <a:latin typeface="Microsoft YaHei"/>
              </a:rPr>
              <a:t>• SQLite +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单机</a:t>
            </a:r>
            <a:r>
              <a:rPr dirty="0">
                <a:solidFill>
                  <a:srgbClr val="475569"/>
                </a:solidFill>
                <a:latin typeface="Microsoft YaHei"/>
              </a:rPr>
              <a:t> Chroma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扩展性有限，不适合真实高并发景区运营</a:t>
            </a:r>
            <a:r>
              <a:rPr dirty="0">
                <a:solidFill>
                  <a:srgbClr val="475569"/>
                </a:solidFill>
                <a:latin typeface="Microsoft YaHei"/>
              </a:rPr>
              <a:t>。</a:t>
            </a:r>
          </a:p>
          <a:p>
            <a:pPr>
              <a:spcAft>
                <a:spcPts val="400"/>
              </a:spcAft>
            </a:pPr>
            <a:r>
              <a:rPr dirty="0">
                <a:solidFill>
                  <a:srgbClr val="475569"/>
                </a:solidFill>
                <a:latin typeface="Microsoft YaHei"/>
              </a:rPr>
              <a:t>•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管理员鉴权较轻，缺少细粒度权限、审计日志与正式登录流程</a:t>
            </a:r>
            <a:r>
              <a:rPr dirty="0">
                <a:solidFill>
                  <a:srgbClr val="475569"/>
                </a:solidFill>
                <a:latin typeface="Microsoft YaHei"/>
              </a:rPr>
              <a:t>。</a:t>
            </a:r>
          </a:p>
          <a:p>
            <a:pPr>
              <a:spcAft>
                <a:spcPts val="400"/>
              </a:spcAft>
            </a:pPr>
            <a:r>
              <a:rPr dirty="0">
                <a:solidFill>
                  <a:srgbClr val="475569"/>
                </a:solidFill>
                <a:latin typeface="Microsoft YaHei"/>
              </a:rPr>
              <a:t>•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数字人存在两套实现，当前呈现链路与代码抽象尚未完全统一</a:t>
            </a:r>
            <a:r>
              <a:rPr dirty="0">
                <a:solidFill>
                  <a:srgbClr val="475569"/>
                </a:solidFill>
                <a:latin typeface="Microsoft YaHei"/>
              </a:rPr>
              <a:t>。</a:t>
            </a:r>
          </a:p>
          <a:p>
            <a:pPr>
              <a:spcAft>
                <a:spcPts val="400"/>
              </a:spcAft>
            </a:pPr>
            <a:r>
              <a:rPr dirty="0">
                <a:solidFill>
                  <a:srgbClr val="475569"/>
                </a:solidFill>
                <a:latin typeface="Microsoft YaHei"/>
              </a:rPr>
              <a:t>•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推荐与分析逻辑偏规则化，仍有继续引入更强模型与真实指标体系的空间</a:t>
            </a:r>
            <a:r>
              <a:rPr dirty="0">
                <a:solidFill>
                  <a:srgbClr val="475569"/>
                </a:solidFill>
                <a:latin typeface="Microsoft YaHei"/>
              </a:rPr>
              <a:t>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78440" y="63550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75569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Microsoft YaHei"/>
              </a:rPr>
              <a:t>15. 汇报总结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701506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 err="1">
                <a:solidFill>
                  <a:srgbClr val="475569"/>
                </a:solidFill>
                <a:latin typeface="Microsoft YaHei"/>
              </a:rPr>
              <a:t>一句话概括：这是一个围绕景区导览场景构建的</a:t>
            </a:r>
            <a:r>
              <a:rPr dirty="0">
                <a:solidFill>
                  <a:srgbClr val="475569"/>
                </a:solidFill>
                <a:latin typeface="Microsoft YaHei"/>
              </a:rPr>
              <a:t> AI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数字人闭环系统</a:t>
            </a:r>
            <a:endParaRPr dirty="0">
              <a:solidFill>
                <a:srgbClr val="475569"/>
              </a:solidFill>
              <a:latin typeface="Microsoft YaHe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11480" y="987552"/>
            <a:ext cx="10972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96012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128016" cy="3566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2416" y="1481328"/>
            <a:ext cx="12105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 err="1">
                <a:solidFill>
                  <a:srgbClr val="0F172A"/>
                </a:solidFill>
                <a:latin typeface="Microsoft YaHei"/>
              </a:rPr>
              <a:t>最终结论</a:t>
            </a:r>
            <a:endParaRPr sz="2000" b="1" dirty="0">
              <a:solidFill>
                <a:srgbClr val="0F172A"/>
              </a:solidFill>
              <a:latin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42416" y="1847088"/>
            <a:ext cx="9290304" cy="125162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dirty="0">
                <a:solidFill>
                  <a:srgbClr val="475569"/>
                </a:solidFill>
                <a:latin typeface="Microsoft YaHei"/>
              </a:rPr>
              <a:t>•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系统真正的核心不是单个模型，而是“知识检索</a:t>
            </a:r>
            <a:r>
              <a:rPr dirty="0">
                <a:solidFill>
                  <a:srgbClr val="475569"/>
                </a:solidFill>
                <a:latin typeface="Microsoft YaHei"/>
              </a:rPr>
              <a:t> +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多轮问答</a:t>
            </a:r>
            <a:r>
              <a:rPr dirty="0">
                <a:solidFill>
                  <a:srgbClr val="475569"/>
                </a:solidFill>
                <a:latin typeface="Microsoft YaHei"/>
              </a:rPr>
              <a:t> +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语音合成</a:t>
            </a:r>
            <a:r>
              <a:rPr dirty="0">
                <a:solidFill>
                  <a:srgbClr val="475569"/>
                </a:solidFill>
                <a:latin typeface="Microsoft YaHei"/>
              </a:rPr>
              <a:t> +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数字人呈现</a:t>
            </a:r>
            <a:r>
              <a:rPr dirty="0">
                <a:solidFill>
                  <a:srgbClr val="475569"/>
                </a:solidFill>
                <a:latin typeface="Microsoft YaHei"/>
              </a:rPr>
              <a:t> + 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运营反馈”的组合编排能力</a:t>
            </a:r>
            <a:r>
              <a:rPr dirty="0">
                <a:solidFill>
                  <a:srgbClr val="475569"/>
                </a:solidFill>
                <a:latin typeface="Microsoft YaHei"/>
              </a:rPr>
              <a:t>。</a:t>
            </a:r>
          </a:p>
          <a:p>
            <a:pPr>
              <a:spcAft>
                <a:spcPts val="400"/>
              </a:spcAft>
            </a:pPr>
            <a:r>
              <a:rPr dirty="0">
                <a:solidFill>
                  <a:srgbClr val="475569"/>
                </a:solidFill>
                <a:latin typeface="Microsoft YaHei"/>
              </a:rPr>
              <a:t>• </a:t>
            </a:r>
            <a:r>
              <a:rPr dirty="0" err="1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</a:t>
            </a:r>
            <a:r>
              <a:rPr lang="zh-CN" altLang="en-US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</a:t>
            </a:r>
            <a:r>
              <a:rPr dirty="0" err="1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继续</a:t>
            </a:r>
            <a:r>
              <a:rPr lang="zh-CN" altLang="en-US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深入</a:t>
            </a:r>
            <a:r>
              <a:rPr dirty="0" err="1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  <a:r>
              <a:rPr dirty="0" err="1">
                <a:solidFill>
                  <a:srgbClr val="475569"/>
                </a:solidFill>
                <a:latin typeface="Microsoft YaHei"/>
              </a:rPr>
              <a:t>，优先级依次为：统一数字人链路、增强权限与安全、升级存储与检索架构、提升推荐与分析智能度</a:t>
            </a:r>
            <a:r>
              <a:rPr sz="1100" dirty="0">
                <a:solidFill>
                  <a:srgbClr val="475569"/>
                </a:solidFill>
                <a:latin typeface="Microsoft YaHei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3550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75569"/>
                </a:solidFill>
                <a:latin typeface="Microsoft YaHe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1650</Words>
  <Application>Microsoft Office PowerPoint</Application>
  <PresentationFormat>宽屏</PresentationFormat>
  <Paragraphs>306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6" baseType="lpstr">
      <vt:lpstr>Microsoft YaHei</vt:lpstr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旭阳 李</cp:lastModifiedBy>
  <cp:revision>3</cp:revision>
  <dcterms:created xsi:type="dcterms:W3CDTF">2013-01-27T09:14:16Z</dcterms:created>
  <dcterms:modified xsi:type="dcterms:W3CDTF">2026-07-19T13:35:38Z</dcterms:modified>
  <cp:category/>
</cp:coreProperties>
</file>